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BA204-0A43-0FDC-BD61-5D1A8D464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67CD65-7126-AC35-539E-C557102E7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47BB6-6AE7-EFD8-C288-A5440777F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95986-54E1-B05F-DCAC-EB763454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EF4FA-29E4-C19F-0A1E-F26ECBC3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76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BB2AA-E9EA-E4A0-6895-1222365C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24F32-0DAD-C3B9-A95B-032B2DF8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71AA8-1743-43E0-9AC7-63F228A3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9E6E3B-6F58-F152-B28E-2A5A4504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5FED4-9D60-3C6E-6D4A-0A14CFFB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59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E90FE-410F-FA50-A97C-47F49F61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3599F2-4E62-2844-B807-62F6FFCC8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7FBA9B-1221-BCF4-5E41-C61B6697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36E8A-4B39-CDE4-E008-1BAE53ED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20C71-E6ED-C1B2-CC44-6936B4F4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3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47FF4-5BB9-E3A7-9430-5621A6AC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3F417-8391-9B3C-EA68-8A400FB89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79A3A2-6EF7-3997-A431-DC8BC1C16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88FD19-1729-DADD-1307-AD7B4D1B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BA839-2843-7DF4-58F8-C1604BA5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0898D4-B9AA-D43D-1586-44E70B56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6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87F3B-CB53-AC86-A6E2-8F3F2D4F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7752AF-140F-5505-5D1A-761587EE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880885-C7DC-31D9-FE61-59B130B83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5D58F9-FB2F-2C2D-EFB7-981358F94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F04A23-C521-4254-824F-E83602A4F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A516C0-F721-317B-D7F2-48B4ACEF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587F30-B960-64DB-1B28-EF3DFDA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34B9BD-ACB6-7ACE-0011-7F7C785D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74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3D754-5EDE-A8C7-3BBF-4F08DD53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41FCA6-86BC-CC0B-0F1C-EDC5284E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F71FBC-482F-FD81-9651-70030401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8F7D77-5B49-6FDF-C21E-C147AD24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25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397443-2E35-713C-D85C-9F10DAEF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9FD3CC-8408-B2BA-971C-CB38C097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CB5B0-49F7-BE57-42E3-290434CD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4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407EF-624E-098D-26D9-3229698C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4B020E-CE1E-83C1-355D-35A19434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FAD1CA-B41E-010B-4755-EE46C8887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675255-2C2C-B666-B7B9-E044E776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6EB6E8-E451-4617-219E-340104BE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810BB6-80A5-53DF-1EA2-977728E2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02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0D06A-4BE5-0851-592E-3F952735E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ED89B-6F87-22FF-B441-0576158FC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06A064-6F4D-B531-CD97-97F2F7FD8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D9A9B7-A828-691D-6A4F-7FB4E2E1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4B179E-4001-69AE-8F66-C4F9876A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6F8E7-528D-1DE9-024C-18D5047E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55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27143-2017-7BD6-F9D2-F1C5ED81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B2B156-21F2-E478-F9B4-87F96E454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F22E0-11B7-5A4D-D38D-20C7B9C2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855C0F-C28C-8DB3-535C-17EC6833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C8C334-A38C-C5BF-022E-08C2756D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67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D04922-D978-CF94-62BD-43EABE27D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3A0D7D-74B7-B410-D61D-56833E1E0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47727-315D-C33B-A9AB-D6C47E20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C7C83-7323-EEEB-1638-A16B4729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64BDE-8828-1B3C-EB06-AD3F6F9A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1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6C11C6-621C-DC30-674D-B67D21A3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A45AAD-31F6-DB7C-0AF9-EA4624EA9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8D3E-B206-728F-3C92-57DDB0A06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D078F-2813-4B38-A555-3036125EAD31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834991-A2E6-8375-6038-FA1C6B531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57D33-12B8-5E32-DB0A-6A6D52156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84C8C-2263-4FB7-B171-6533AA901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2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4C27B-052B-4DB8-A185-03C753F0C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182563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生成式推荐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模型性能优化方案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C14524-5A77-A501-ED9A-A48B0429C836}"/>
              </a:ext>
            </a:extLst>
          </p:cNvPr>
          <p:cNvSpPr txBox="1"/>
          <p:nvPr/>
        </p:nvSpPr>
        <p:spPr>
          <a:xfrm>
            <a:off x="184150" y="800100"/>
            <a:ext cx="490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问题和挑战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2EF661-8D1A-A312-A74C-A376EE3B319D}"/>
              </a:ext>
            </a:extLst>
          </p:cNvPr>
          <p:cNvSpPr txBox="1"/>
          <p:nvPr/>
        </p:nvSpPr>
        <p:spPr>
          <a:xfrm>
            <a:off x="266700" y="1212850"/>
            <a:ext cx="54102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1.Beam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相关性导致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Router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倾斜：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 共享 Prefix 和父节点，导致 Hidden State 高度相似、Top-K Expert 选择大量重合，形成热点 Expert 和 EP Rank Straggler。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Expert 覆盖面过大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 Beam 的 Top-8 Assignment 可能触达接近全部 384 Experts，造成权重工作集和通信范围扩大。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 Expert Batch 过小：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 Assignment 被大量 Experts 稀释，Beam128/512 平均仅约 2.67/10.67 Token 每 Expert，形成 Small-M GEMM。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4.TopK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扇出广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 Token 的 8 个 Expert 常分布于多个 EP Rank，增加 Dispatch/Combine 和同步范围。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多层反复放大：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通信与慢 Rank 成本在每个 MoE 层重复发生，最终延迟近似为各层最慢 Rank 时间之和。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Prefill 重吞吐，Decode 重低延迟：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前者 Expert Batch 大，后者 Small-M 且通信启动敏感，同一套 Kernel/EP 配置难以兼顾。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E5C607-08E3-5C88-34A0-9891510674A2}"/>
              </a:ext>
            </a:extLst>
          </p:cNvPr>
          <p:cNvSpPr txBox="1"/>
          <p:nvPr/>
        </p:nvSpPr>
        <p:spPr>
          <a:xfrm>
            <a:off x="266700" y="5727057"/>
            <a:ext cx="6305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30BA2B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类模型，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Experts=384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TopK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BeamWidth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=128/512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Assignment=BW*K = (128/512) * 8 = 1024/4096;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不考虑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倾斜，单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tokens=(1024/4096)  /  384 = 2.67/10.67 Tokens/Expert</a:t>
            </a: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C2FE56-7E56-323C-95C9-EA2B321CA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493" y="1625848"/>
            <a:ext cx="2632754" cy="390627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BB5CFB7-48B9-F8B5-5F8A-5EE4BD3F74DE}"/>
              </a:ext>
            </a:extLst>
          </p:cNvPr>
          <p:cNvSpPr txBox="1"/>
          <p:nvPr/>
        </p:nvSpPr>
        <p:spPr>
          <a:xfrm>
            <a:off x="8542867" y="819573"/>
            <a:ext cx="339936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处理策略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确定最佳并行切分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针对模型规模、Expert 数、Top-K 和硬件拓扑，选择合适的 TP、EP、DP 组合。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建立性能基线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分层 Profile Router、Dispatch、Expert GEMM 和 Combine，确认 Expert/EP Rank 负载偏斜及 Straggler。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 Session 合批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将多个独立 Beam 请求合入一次 Forward，在保持搜索状态独立的同时，提高每 Expert Token 数并平滑路由负载。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 Small-M Expert Kernel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采用小 Tile、空 Expert 跳过、Persistent Grouped GEMM 和算子融合，降低 Padding、调度和启动开销。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采用低延迟 EP 后端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通过固定容量、Masked Layout 和异步 Dispatch/Combine，降低 Decode 小消息通信与 CUDA Graph 开销。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使用分层 Bucket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 Bucket 固定 Forward Shape；Expert (M_e) Bucket 选择匹配的 Kernel；EP Capacity Bucket 固定通信容量，溢出时切换更大 Bucket 或回退。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按需进行 P/D 分离</a:t>
            </a:r>
            <a:b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使用高吞吐配置，Decode 使用 Small-M、低延迟和 Graph-safe 配置，解决两阶段计算形态差异。</a:t>
            </a:r>
          </a:p>
        </p:txBody>
      </p:sp>
    </p:spTree>
    <p:extLst>
      <p:ext uri="{BB962C8B-B14F-4D97-AF65-F5344CB8AC3E}">
        <p14:creationId xmlns:p14="http://schemas.microsoft.com/office/powerpoint/2010/main" val="186396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CFCF-7C66-2FF5-F68A-F568417C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136B301-3224-46AF-9C90-E7D4BF0DC57B}"/>
              </a:ext>
            </a:extLst>
          </p:cNvPr>
          <p:cNvSpPr/>
          <p:nvPr/>
        </p:nvSpPr>
        <p:spPr>
          <a:xfrm>
            <a:off x="4805363" y="938964"/>
            <a:ext cx="4612957" cy="549993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882E7BD-D54D-AA2B-38BB-77D7A7A79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182563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生成式推荐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模型性能优化方案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7B6FC6-9FAC-A307-BB2D-B64F41FCA14A}"/>
              </a:ext>
            </a:extLst>
          </p:cNvPr>
          <p:cNvSpPr txBox="1"/>
          <p:nvPr/>
        </p:nvSpPr>
        <p:spPr>
          <a:xfrm>
            <a:off x="5899185" y="576460"/>
            <a:ext cx="490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问题和挑战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B243F5E-D7FF-8C8F-469C-71A18B23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8" y="660400"/>
            <a:ext cx="4538732" cy="5854700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B26FEC3-0CD2-3584-DB32-58357B2E93CA}"/>
              </a:ext>
            </a:extLst>
          </p:cNvPr>
          <p:cNvSpPr/>
          <p:nvPr/>
        </p:nvSpPr>
        <p:spPr>
          <a:xfrm>
            <a:off x="5003074" y="1423851"/>
            <a:ext cx="4217126" cy="14173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3F8D80-01D8-3748-634B-D09AAFD703BB}"/>
              </a:ext>
            </a:extLst>
          </p:cNvPr>
          <p:cNvSpPr txBox="1"/>
          <p:nvPr/>
        </p:nvSpPr>
        <p:spPr>
          <a:xfrm>
            <a:off x="5114109" y="1423851"/>
            <a:ext cx="2658291" cy="37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Expert Batch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被稀释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567191-E22E-A2AB-C641-DC7ECFAE722D}"/>
              </a:ext>
            </a:extLst>
          </p:cNvPr>
          <p:cNvSpPr txBox="1"/>
          <p:nvPr/>
        </p:nvSpPr>
        <p:spPr>
          <a:xfrm>
            <a:off x="5003074" y="1802674"/>
            <a:ext cx="40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 128/512-&gt;2.67/10.67 Token/Expert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6CF79B-654B-3599-3BB8-262B8F601DE8}"/>
              </a:ext>
            </a:extLst>
          </p:cNvPr>
          <p:cNvSpPr txBox="1"/>
          <p:nvPr/>
        </p:nvSpPr>
        <p:spPr>
          <a:xfrm>
            <a:off x="5003073" y="2110451"/>
            <a:ext cx="4815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触达大量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，权重工作集很大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M_e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GEMM/Padding/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调度开销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占比高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375B429-3AE3-FC62-73BA-2754286B347F}"/>
              </a:ext>
            </a:extLst>
          </p:cNvPr>
          <p:cNvSpPr/>
          <p:nvPr/>
        </p:nvSpPr>
        <p:spPr>
          <a:xfrm>
            <a:off x="5003073" y="3069771"/>
            <a:ext cx="4217127" cy="144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1BAE8C-A467-E6F7-6839-F8684EB2261D}"/>
              </a:ext>
            </a:extLst>
          </p:cNvPr>
          <p:cNvSpPr txBox="1"/>
          <p:nvPr/>
        </p:nvSpPr>
        <p:spPr>
          <a:xfrm>
            <a:off x="5003073" y="3069771"/>
            <a:ext cx="421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2.Beam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路由相关与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4BD4E8-403D-1CD3-2F71-8C750158C75C}"/>
              </a:ext>
            </a:extLst>
          </p:cNvPr>
          <p:cNvSpPr txBox="1"/>
          <p:nvPr/>
        </p:nvSpPr>
        <p:spPr>
          <a:xfrm>
            <a:off x="5024028" y="3344276"/>
            <a:ext cx="38339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Prefix/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Beam-&gt;Router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TopK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高度重合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 Hidden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相似，容易命中相同热点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热点若集中到同一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 Rank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上累积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DC12C1A-74B9-D96B-0C6D-AE5A676F8EFA}"/>
              </a:ext>
            </a:extLst>
          </p:cNvPr>
          <p:cNvSpPr/>
          <p:nvPr/>
        </p:nvSpPr>
        <p:spPr>
          <a:xfrm>
            <a:off x="5003073" y="4701540"/>
            <a:ext cx="4255227" cy="144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EF52D70-AD45-7DD8-F878-CAB28B424D2D}"/>
              </a:ext>
            </a:extLst>
          </p:cNvPr>
          <p:cNvSpPr txBox="1"/>
          <p:nvPr/>
        </p:nvSpPr>
        <p:spPr>
          <a:xfrm>
            <a:off x="5003073" y="4701540"/>
            <a:ext cx="4255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与多层同步放大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363C21-FB23-9CA6-EE34-5F0062212D34}"/>
              </a:ext>
            </a:extLst>
          </p:cNvPr>
          <p:cNvSpPr txBox="1"/>
          <p:nvPr/>
        </p:nvSpPr>
        <p:spPr>
          <a:xfrm>
            <a:off x="5024028" y="5021580"/>
            <a:ext cx="42552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M_e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/Rank Count,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多层反复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Aclgraph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和算子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tiling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更偏好固定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每层通信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/Reduce/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同步等待逐层累积，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多轮继续放大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3AC533-4F17-3078-9DAB-C5402F62137C}"/>
              </a:ext>
            </a:extLst>
          </p:cNvPr>
          <p:cNvSpPr txBox="1"/>
          <p:nvPr/>
        </p:nvSpPr>
        <p:spPr>
          <a:xfrm>
            <a:off x="9994537" y="576460"/>
            <a:ext cx="2722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对应优化措施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AAC40AA-2C9D-44CD-FBF2-5D80EE1B18D3}"/>
              </a:ext>
            </a:extLst>
          </p:cNvPr>
          <p:cNvSpPr/>
          <p:nvPr/>
        </p:nvSpPr>
        <p:spPr>
          <a:xfrm>
            <a:off x="9563100" y="922337"/>
            <a:ext cx="2628900" cy="1926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8A20E7C-AD69-02BA-CCDD-627A287695AE}"/>
              </a:ext>
            </a:extLst>
          </p:cNvPr>
          <p:cNvSpPr txBox="1"/>
          <p:nvPr/>
        </p:nvSpPr>
        <p:spPr>
          <a:xfrm>
            <a:off x="9563100" y="1155376"/>
            <a:ext cx="2519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提高每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BC1639-73CA-798B-10C4-D161B1AEBF31}"/>
              </a:ext>
            </a:extLst>
          </p:cNvPr>
          <p:cNvSpPr txBox="1"/>
          <p:nvPr/>
        </p:nvSpPr>
        <p:spPr>
          <a:xfrm>
            <a:off x="9563100" y="1463153"/>
            <a:ext cx="2628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batch: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Beam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请求共享一次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Ascend Small-M: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M_e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分桶、小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、跳过空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Grouped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Matmul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/Persistent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调度，融合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Permute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Combine,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搬运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26FC4F6-F1DD-21F7-21A2-66EAC4861164}"/>
              </a:ext>
            </a:extLst>
          </p:cNvPr>
          <p:cNvSpPr/>
          <p:nvPr/>
        </p:nvSpPr>
        <p:spPr>
          <a:xfrm>
            <a:off x="9563100" y="2957513"/>
            <a:ext cx="2628900" cy="1381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581D3B9-9F58-F90E-629B-E729990B410D}"/>
              </a:ext>
            </a:extLst>
          </p:cNvPr>
          <p:cNvSpPr txBox="1"/>
          <p:nvPr/>
        </p:nvSpPr>
        <p:spPr>
          <a:xfrm>
            <a:off x="9563100" y="2995613"/>
            <a:ext cx="2519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控制路由偏斜与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32A200-A450-CDCE-D0DC-F1278FD1069D}"/>
              </a:ext>
            </a:extLst>
          </p:cNvPr>
          <p:cNvSpPr txBox="1"/>
          <p:nvPr/>
        </p:nvSpPr>
        <p:spPr>
          <a:xfrm>
            <a:off x="9520238" y="3344276"/>
            <a:ext cx="2709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考虑切分策略，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TP-Only VS TP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Placement/EPLB: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分散高共现热点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，必要时热点副本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9200960-49D1-E2B4-D629-3D3EDFC63CF8}"/>
              </a:ext>
            </a:extLst>
          </p:cNvPr>
          <p:cNvSpPr/>
          <p:nvPr/>
        </p:nvSpPr>
        <p:spPr>
          <a:xfrm>
            <a:off x="9563100" y="4572000"/>
            <a:ext cx="2628900" cy="18669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83C8695-21BF-BBE3-6667-70E6641FD15C}"/>
              </a:ext>
            </a:extLst>
          </p:cNvPr>
          <p:cNvSpPr txBox="1"/>
          <p:nvPr/>
        </p:nvSpPr>
        <p:spPr>
          <a:xfrm>
            <a:off x="9520238" y="4624388"/>
            <a:ext cx="2562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降低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通信与同步成本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1A1C839-F7E4-CDE5-8D9C-F4E361326023}"/>
              </a:ext>
            </a:extLst>
          </p:cNvPr>
          <p:cNvSpPr txBox="1"/>
          <p:nvPr/>
        </p:nvSpPr>
        <p:spPr>
          <a:xfrm>
            <a:off x="9563100" y="4895850"/>
            <a:ext cx="2628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BeamBucket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ForwardShape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M_e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Kernel/Tiling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Masked Layout + HCCL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多流重叠，降低同步等待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 Capacity Bucket: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固定通信容量，溢出切大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Bucket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或回退</a:t>
            </a:r>
          </a:p>
        </p:txBody>
      </p:sp>
    </p:spTree>
    <p:extLst>
      <p:ext uri="{BB962C8B-B14F-4D97-AF65-F5344CB8AC3E}">
        <p14:creationId xmlns:p14="http://schemas.microsoft.com/office/powerpoint/2010/main" val="336225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756</Words>
  <Application>Microsoft Office PowerPoint</Application>
  <PresentationFormat>宽屏</PresentationFormat>
  <Paragraphs>51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Wingdings</vt:lpstr>
      <vt:lpstr>Office 主题​​</vt:lpstr>
      <vt:lpstr>生成式推荐MoE模型性能优化方案</vt:lpstr>
      <vt:lpstr>生成式推荐MoE模型性能优化方案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邯 张</dc:creator>
  <cp:lastModifiedBy>邯 张</cp:lastModifiedBy>
  <cp:revision>13</cp:revision>
  <dcterms:created xsi:type="dcterms:W3CDTF">2026-08-01T03:01:26Z</dcterms:created>
  <dcterms:modified xsi:type="dcterms:W3CDTF">2026-08-01T12:36:09Z</dcterms:modified>
</cp:coreProperties>
</file>