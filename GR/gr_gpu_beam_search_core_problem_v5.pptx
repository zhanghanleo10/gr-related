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3b92194dec4140" /><Relationship Type="http://schemas.openxmlformats.org/officeDocument/2006/relationships/extended-properties" Target="/docProps/app.xml" Id="R62aa812f7bc24a4e" /><Relationship Type="http://schemas.openxmlformats.org/officeDocument/2006/relationships/officeDocument" Target="/ppt/presentation.xml" Id="R011ba3d8e71c49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280df2a0934f6c"/>
  </p:sldMasterIdLst>
  <p:notesMasterIdLst>
    <p:notesMasterId xmlns:r="http://schemas.openxmlformats.org/officeDocument/2006/relationships" r:id="R0d181300c9c54c9d"/>
  </p:notesMasterIdLst>
  <p:sldIdLst>
    <p:sldId xmlns:r="http://schemas.openxmlformats.org/officeDocument/2006/relationships" id="256" r:id="Rf2718e5bfce041f0"/>
    <p:sldId xmlns:r="http://schemas.openxmlformats.org/officeDocument/2006/relationships" id="257" r:id="R5fe554d0045f499c"/>
    <p:sldId xmlns:r="http://schemas.openxmlformats.org/officeDocument/2006/relationships" id="258" r:id="Rc7affd0944d54e30"/>
    <p:sldId xmlns:r="http://schemas.openxmlformats.org/officeDocument/2006/relationships" id="259" r:id="Rde98c0ed8e854c9c"/>
    <p:sldId xmlns:r="http://schemas.openxmlformats.org/officeDocument/2006/relationships" id="260" r:id="Rd34ba44b8ca84771"/>
    <p:sldId xmlns:r="http://schemas.openxmlformats.org/officeDocument/2006/relationships" id="261" r:id="Reecb1ad3b19d4456"/>
    <p:sldId xmlns:r="http://schemas.openxmlformats.org/officeDocument/2006/relationships" id="262" r:id="R1e67166f9f204b17"/>
    <p:sldId xmlns:r="http://schemas.openxmlformats.org/officeDocument/2006/relationships" id="263" r:id="R1f07443901e44592"/>
    <p:sldId xmlns:r="http://schemas.openxmlformats.org/officeDocument/2006/relationships" id="264" r:id="Rb189b100ac964b74"/>
    <p:sldId xmlns:r="http://schemas.openxmlformats.org/officeDocument/2006/relationships" id="265" r:id="R890d4b52137f4743"/>
    <p:sldId xmlns:r="http://schemas.openxmlformats.org/officeDocument/2006/relationships" id="266" r:id="R0fd9af7f2c7d4074"/>
    <p:sldId xmlns:r="http://schemas.openxmlformats.org/officeDocument/2006/relationships" id="267" r:id="R05598160520d4092"/>
    <p:sldId xmlns:r="http://schemas.openxmlformats.org/officeDocument/2006/relationships" id="268" r:id="Rc1a1e95d4a9c4f85"/>
    <p:sldId xmlns:r="http://schemas.openxmlformats.org/officeDocument/2006/relationships" id="269" r:id="R9f1c51e9696c44e8"/>
    <p:sldId xmlns:r="http://schemas.openxmlformats.org/officeDocument/2006/relationships" id="270" r:id="R7599c7d34d0545d7"/>
    <p:sldId xmlns:r="http://schemas.openxmlformats.org/officeDocument/2006/relationships" id="271" r:id="R08457b3f31e4418f"/>
    <p:sldId xmlns:r="http://schemas.openxmlformats.org/officeDocument/2006/relationships" id="272" r:id="R7128a4a096c74b97"/>
    <p:sldId xmlns:r="http://schemas.openxmlformats.org/officeDocument/2006/relationships" id="273" r:id="Rdd2060ef10654629"/>
    <p:sldId xmlns:r="http://schemas.openxmlformats.org/officeDocument/2006/relationships" id="274" r:id="Rc7d1157633a04046"/>
    <p:sldId xmlns:r="http://schemas.openxmlformats.org/officeDocument/2006/relationships" id="275" r:id="R5df6d3b9764446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8b43c341b34bbd" /><Relationship Type="http://schemas.openxmlformats.org/officeDocument/2006/relationships/slideMaster" Target="/ppt/slideMasters/slideMaster1.xml" Id="Rdc280df2a0934f6c" /><Relationship Type="http://schemas.openxmlformats.org/officeDocument/2006/relationships/notesMaster" Target="/ppt/notesMasters/notesMaster1.xml" Id="R0d181300c9c54c9d" /><Relationship Type="http://schemas.openxmlformats.org/officeDocument/2006/relationships/presProps" Target="/ppt/presProps.xml" Id="Re937b86cfe1649ae" /><Relationship Type="http://schemas.openxmlformats.org/officeDocument/2006/relationships/tableStyles" Target="/ppt/tableStyles.xml" Id="Rf77f2df0b5ab4d80" /><Relationship Type="http://schemas.openxmlformats.org/officeDocument/2006/relationships/slide" Target="/ppt/slides/slide1.xml" Id="Rf2718e5bfce041f0" /><Relationship Type="http://schemas.openxmlformats.org/officeDocument/2006/relationships/slide" Target="/ppt/slides/slide2.xml" Id="R5fe554d0045f499c" /><Relationship Type="http://schemas.openxmlformats.org/officeDocument/2006/relationships/slide" Target="/ppt/slides/slide3.xml" Id="Rc7affd0944d54e30" /><Relationship Type="http://schemas.openxmlformats.org/officeDocument/2006/relationships/slide" Target="/ppt/slides/slide4.xml" Id="Rde98c0ed8e854c9c" /><Relationship Type="http://schemas.openxmlformats.org/officeDocument/2006/relationships/slide" Target="/ppt/slides/slide5.xml" Id="Rd34ba44b8ca84771" /><Relationship Type="http://schemas.openxmlformats.org/officeDocument/2006/relationships/slide" Target="/ppt/slides/slide6.xml" Id="Reecb1ad3b19d4456" /><Relationship Type="http://schemas.openxmlformats.org/officeDocument/2006/relationships/slide" Target="/ppt/slides/slide7.xml" Id="R1e67166f9f204b17" /><Relationship Type="http://schemas.openxmlformats.org/officeDocument/2006/relationships/slide" Target="/ppt/slides/slide8.xml" Id="R1f07443901e44592" /><Relationship Type="http://schemas.openxmlformats.org/officeDocument/2006/relationships/slide" Target="/ppt/slides/slide9.xml" Id="Rb189b100ac964b74" /><Relationship Type="http://schemas.openxmlformats.org/officeDocument/2006/relationships/slide" Target="/ppt/slides/slide10.xml" Id="R890d4b52137f4743" /><Relationship Type="http://schemas.openxmlformats.org/officeDocument/2006/relationships/slide" Target="/ppt/slides/slide11.xml" Id="R0fd9af7f2c7d4074" /><Relationship Type="http://schemas.openxmlformats.org/officeDocument/2006/relationships/slide" Target="/ppt/slides/slide12.xml" Id="R05598160520d4092" /><Relationship Type="http://schemas.openxmlformats.org/officeDocument/2006/relationships/slide" Target="/ppt/slides/slide13.xml" Id="Rc1a1e95d4a9c4f85" /><Relationship Type="http://schemas.openxmlformats.org/officeDocument/2006/relationships/slide" Target="/ppt/slides/slide14.xml" Id="R9f1c51e9696c44e8" /><Relationship Type="http://schemas.openxmlformats.org/officeDocument/2006/relationships/slide" Target="/ppt/slides/slide15.xml" Id="R7599c7d34d0545d7" /><Relationship Type="http://schemas.openxmlformats.org/officeDocument/2006/relationships/slide" Target="/ppt/slides/slide16.xml" Id="R08457b3f31e4418f" /><Relationship Type="http://schemas.openxmlformats.org/officeDocument/2006/relationships/slide" Target="/ppt/slides/slide17.xml" Id="R7128a4a096c74b97" /><Relationship Type="http://schemas.openxmlformats.org/officeDocument/2006/relationships/slide" Target="/ppt/slides/slide18.xml" Id="Rdd2060ef10654629" /><Relationship Type="http://schemas.openxmlformats.org/officeDocument/2006/relationships/slide" Target="/ppt/slides/slide19.xml" Id="Rc7d1157633a04046" /><Relationship Type="http://schemas.openxmlformats.org/officeDocument/2006/relationships/slide" Target="/ppt/slides/slide20.xml" Id="R5df6d3b9764446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32076a85f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3aad4364a4d4b" /><Relationship Type="http://schemas.openxmlformats.org/officeDocument/2006/relationships/notesMaster" Target="/ppt/notesMasters/notesMaster1.xml" Id="R4571d3be7e9f42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192b0294de4f38" /><Relationship Type="http://schemas.openxmlformats.org/officeDocument/2006/relationships/notesMaster" Target="/ppt/notesMasters/notesMaster1.xml" Id="R3751407ebd1243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a1a5e5adb94245" /><Relationship Type="http://schemas.openxmlformats.org/officeDocument/2006/relationships/notesMaster" Target="/ppt/notesMasters/notesMaster1.xml" Id="R931bcbcb0b224b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c5d0aa74ab475a" /><Relationship Type="http://schemas.openxmlformats.org/officeDocument/2006/relationships/notesMaster" Target="/ppt/notesMasters/notesMaster1.xml" Id="Re2b275f4cc464f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3b5182f6b84b6f" /><Relationship Type="http://schemas.openxmlformats.org/officeDocument/2006/relationships/notesMaster" Target="/ppt/notesMasters/notesMaster1.xml" Id="Re47aa8941f7749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8a0a2eadfe4fc1" /><Relationship Type="http://schemas.openxmlformats.org/officeDocument/2006/relationships/notesMaster" Target="/ppt/notesMasters/notesMaster1.xml" Id="Rd5327df139cb44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9c48775cab45d8" /><Relationship Type="http://schemas.openxmlformats.org/officeDocument/2006/relationships/notesMaster" Target="/ppt/notesMasters/notesMaster1.xml" Id="Rc96ef9fcae9647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a37b603a004b28" /><Relationship Type="http://schemas.openxmlformats.org/officeDocument/2006/relationships/notesMaster" Target="/ppt/notesMasters/notesMaster1.xml" Id="R97a5b4b5688f47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934954e9184d02" /><Relationship Type="http://schemas.openxmlformats.org/officeDocument/2006/relationships/notesMaster" Target="/ppt/notesMasters/notesMaster1.xml" Id="Rcd8e1bad84534b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0e08548dc34484" /><Relationship Type="http://schemas.openxmlformats.org/officeDocument/2006/relationships/notesMaster" Target="/ppt/notesMasters/notesMaster1.xml" Id="Rfd2f7d994e4243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7d53907ebb4617" /><Relationship Type="http://schemas.openxmlformats.org/officeDocument/2006/relationships/notesMaster" Target="/ppt/notesMasters/notesMaster1.xml" Id="R45ccbdf3e15944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00162587264610" /><Relationship Type="http://schemas.openxmlformats.org/officeDocument/2006/relationships/notesMaster" Target="/ppt/notesMasters/notesMaster1.xml" Id="Rb1985ddfcf5a41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ebe0616ed0440b" /><Relationship Type="http://schemas.openxmlformats.org/officeDocument/2006/relationships/notesMaster" Target="/ppt/notesMasters/notesMaster1.xml" Id="R076579c5e24c48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4edeab6452498a" /><Relationship Type="http://schemas.openxmlformats.org/officeDocument/2006/relationships/notesMaster" Target="/ppt/notesMasters/notesMaster1.xml" Id="Rc49b75c58a3a45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2610accfaa4ffa" /><Relationship Type="http://schemas.openxmlformats.org/officeDocument/2006/relationships/notesMaster" Target="/ppt/notesMasters/notesMaster1.xml" Id="Rf1d0fd0ce3ad49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29a290f14e4fcf" /><Relationship Type="http://schemas.openxmlformats.org/officeDocument/2006/relationships/notesMaster" Target="/ppt/notesMasters/notesMaster1.xml" Id="Rc19fdaf2971a4d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1a7980d3a4415e" /><Relationship Type="http://schemas.openxmlformats.org/officeDocument/2006/relationships/notesMaster" Target="/ppt/notesMasters/notesMaster1.xml" Id="Rcd3cc3439f9441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140f0438a643f0" /><Relationship Type="http://schemas.openxmlformats.org/officeDocument/2006/relationships/notesMaster" Target="/ppt/notesMasters/notesMaster1.xml" Id="R620ad246663a4d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9a5c4b6c7e4a5a" /><Relationship Type="http://schemas.openxmlformats.org/officeDocument/2006/relationships/notesMaster" Target="/ppt/notesMasters/notesMaster1.xml" Id="Rded7182703f244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2fcbd9c39e42f3" /><Relationship Type="http://schemas.openxmlformats.org/officeDocument/2006/relationships/notesMaster" Target="/ppt/notesMasters/notesMaster1.xml" Id="R5641c94536c0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d1517dc6d4b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ec6c8422e344f5" /><Relationship Type="http://schemas.openxmlformats.org/officeDocument/2006/relationships/slideLayout" Target="/ppt/slideLayouts/slideLayout1.xml" Id="Rd631a41d13d84b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31a41d13d84b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7a0c5b1b243ff" /><Relationship Type="http://schemas.openxmlformats.org/officeDocument/2006/relationships/image" Target="/ppt/media/image.png" Id="R0ea15e347eba4ade" /><Relationship Type="http://schemas.openxmlformats.org/officeDocument/2006/relationships/notesSlide" Target="/ppt/notesSlides/notesSlide1.xml" Id="R975628db46874c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7b9ccba2e4a9e" /><Relationship Type="http://schemas.openxmlformats.org/officeDocument/2006/relationships/notesSlide" Target="/ppt/notesSlides/notesSlide2.xml" Id="R68c0fd7941bb44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003c4d66a4344" /><Relationship Type="http://schemas.openxmlformats.org/officeDocument/2006/relationships/notesSlide" Target="/ppt/notesSlides/notesSlide3.xml" Id="R568723d6c87542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c26258e66417e" /><Relationship Type="http://schemas.openxmlformats.org/officeDocument/2006/relationships/notesSlide" Target="/ppt/notesSlides/notesSlide4.xml" Id="R99575b1a486546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fa8b2a3148ad" /><Relationship Type="http://schemas.openxmlformats.org/officeDocument/2006/relationships/notesSlide" Target="/ppt/notesSlides/notesSlide5.xml" Id="Raa14c5b9f63247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38ba401f14751" /><Relationship Type="http://schemas.openxmlformats.org/officeDocument/2006/relationships/notesSlide" Target="/ppt/notesSlides/notesSlide6.xml" Id="Rfe8d402e056043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fd09cad934034" /><Relationship Type="http://schemas.openxmlformats.org/officeDocument/2006/relationships/notesSlide" Target="/ppt/notesSlides/notesSlide7.xml" Id="R6c3db6fb259e4c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adca5351d4dfa" /><Relationship Type="http://schemas.openxmlformats.org/officeDocument/2006/relationships/notesSlide" Target="/ppt/notesSlides/notesSlide8.xml" Id="Re759e759bddb46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792d874fc427b" /><Relationship Type="http://schemas.openxmlformats.org/officeDocument/2006/relationships/notesSlide" Target="/ppt/notesSlides/notesSlide9.xml" Id="R5bf691c682b943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3386abc1544ab" /><Relationship Type="http://schemas.openxmlformats.org/officeDocument/2006/relationships/notesSlide" Target="/ppt/notesSlides/notesSlide10.xml" Id="Rd8afaf240ba642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84c7412ec43c0" /><Relationship Type="http://schemas.openxmlformats.org/officeDocument/2006/relationships/notesSlide" Target="/ppt/notesSlides/notesSlide11.xml" Id="R21fb47bc03b44b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a3a1e20cf4169" /><Relationship Type="http://schemas.openxmlformats.org/officeDocument/2006/relationships/notesSlide" Target="/ppt/notesSlides/notesSlide12.xml" Id="Rd78e0a8155ad49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aaafe5cc94200" /><Relationship Type="http://schemas.openxmlformats.org/officeDocument/2006/relationships/notesSlide" Target="/ppt/notesSlides/notesSlide13.xml" Id="Redc516e2a84b4f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6721f6b9640ca" /><Relationship Type="http://schemas.openxmlformats.org/officeDocument/2006/relationships/notesSlide" Target="/ppt/notesSlides/notesSlide14.xml" Id="R9b156698ca2d41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6a6b61c1b4283" /><Relationship Type="http://schemas.openxmlformats.org/officeDocument/2006/relationships/notesSlide" Target="/ppt/notesSlides/notesSlide15.xml" Id="R737f16ef2e3045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a0fe435e74dbf" /><Relationship Type="http://schemas.openxmlformats.org/officeDocument/2006/relationships/notesSlide" Target="/ppt/notesSlides/notesSlide16.xml" Id="R7e307147d90542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438de3e8e4ea1" /><Relationship Type="http://schemas.openxmlformats.org/officeDocument/2006/relationships/notesSlide" Target="/ppt/notesSlides/notesSlide17.xml" Id="R5a35db704ccd4c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61b3ed517426e" /><Relationship Type="http://schemas.openxmlformats.org/officeDocument/2006/relationships/notesSlide" Target="/ppt/notesSlides/notesSlide18.xml" Id="R85eacf19be8142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aaf68f9ed4f9d" /><Relationship Type="http://schemas.openxmlformats.org/officeDocument/2006/relationships/notesSlide" Target="/ppt/notesSlides/notesSlide19.xml" Id="Rab8fcd4fb16148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215f73e454837" /><Relationship Type="http://schemas.openxmlformats.org/officeDocument/2006/relationships/notesSlide" Target="/ppt/notesSlides/notesSlide20.xml" Id="Re753427aeab545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9BF30BC-5208-4800-8582-793A6E53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技术交流 · GPU INFERENCE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560E297-07B6-49F4-80A5-503AC613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572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GR 模型 GPU Beam Search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9C279EC-4AA0-4DF3-A0F6-CC0E4B92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核心矛盾、在线链路、调度与 BeamAttention</a:t>
            </a:r>
          </a:p>
        </p:txBody>
      </p:sp>
      <p:sp>
        <p:nvSpPr>
          <p:cNvPr id="4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A68320AA-81CA-4342-8E6F-F3D8D789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666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基于当前上传的 vLLM-GR 0.22.1 实际代码快照</a:t>
            </a:r>
          </a:p>
        </p:txBody>
      </p:sp>
      <p:sp>
        <p:nvSpPr>
          <p:cNvPr id="5" name="cover-message-bg">
            <a:extLst xmlns:a="http://schemas.openxmlformats.org/drawingml/2006/main">
              <a:ext uri="{FF2B5EF4-FFF2-40B4-BE49-F238E27FC236}">
                <a16:creationId xmlns:a16="http://schemas.microsoft.com/office/drawing/2014/main" id="{B4009832-EF23-41A5-8BC1-5938B838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561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1EFC80CC-C826-4C27-9CBE-669F2C1F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5143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核心判断：GR 优化的是每一轮模型执行，
并未消除 Beam 的动态父子关系与 Host 决策。</a:t>
            </a:r>
          </a:p>
        </p:txBody>
      </p:sp>
      <p:pic>
        <p:nvPicPr>
          <p:cNvPr id="15" name="vllm-gr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15e347eba4ade"/>
          <a:stretch xmlns:a="http://schemas.openxmlformats.org/drawingml/2006/main"/>
        </p:blipFill>
        <p:spPr>
          <a:xfrm xmlns:a="http://schemas.openxmlformats.org/drawingml/2006/main">
            <a:off x="7239000" y="4412298"/>
            <a:ext cx="4953000" cy="2072005"/>
          </a:xfrm>
          <a:prstGeom xmlns:a="http://schemas.openxmlformats.org/drawingml/2006/main" prst="rect">
            <a:avLst/>
          </a:prstGeom>
        </p:spPr>
      </p:pic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6F4F1BC-2142-43CC-AA98-983B1567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外部技术专家交流材料</a:t>
            </a:r>
          </a:p>
        </p:txBody>
      </p:sp>
    </p:spTree>
    <p:extLst>
      <p:ext uri="{BB962C8B-B14F-4D97-AF65-F5344CB8AC3E}">
        <p14:creationId xmlns:p14="http://schemas.microsoft.com/office/powerpoint/2010/main" val="467488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E508383-D46C-4D46-834C-E6BC045E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目录：先讲矛盾，再沿执行链路验证解法</a:t>
            </a:r>
          </a:p>
        </p:txBody>
      </p:sp>
      <p:cxnSp>
        <p:nvCxnSpPr>
          <p:cNvPr id="26" name="slide-2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7" name="agenda-spine"/>
          <p:cNvCxnSpPr/>
          <p:nvPr/>
        </p:nvCxnSpPr>
        <p:spPr>
          <a:xfrm xmlns:a="http://schemas.openxmlformats.org/drawingml/2006/main">
            <a:off x="1447800" y="2343150"/>
            <a:ext cx="286" cy="2895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agenda-dot-1">
            <a:extLst xmlns:a="http://schemas.openxmlformats.org/drawingml/2006/main">
              <a:ext uri="{FF2B5EF4-FFF2-40B4-BE49-F238E27FC236}">
                <a16:creationId xmlns:a16="http://schemas.microsoft.com/office/drawing/2014/main" id="{1AF6F00A-2EDD-4113-97DA-4E8F4202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genda-dot-2">
            <a:extLst xmlns:a="http://schemas.openxmlformats.org/drawingml/2006/main">
              <a:ext uri="{FF2B5EF4-FFF2-40B4-BE49-F238E27FC236}">
                <a16:creationId xmlns:a16="http://schemas.microsoft.com/office/drawing/2014/main" id="{D8D8642C-1BAE-4267-9F3F-598F9A5C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genda-dot-3">
            <a:extLst xmlns:a="http://schemas.openxmlformats.org/drawingml/2006/main">
              <a:ext uri="{FF2B5EF4-FFF2-40B4-BE49-F238E27FC236}">
                <a16:creationId xmlns:a16="http://schemas.microsoft.com/office/drawing/2014/main" id="{FD4FE6C5-9DD6-43B8-A307-DDAC0096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genda-dot-4">
            <a:extLst xmlns:a="http://schemas.openxmlformats.org/drawingml/2006/main">
              <a:ext uri="{FF2B5EF4-FFF2-40B4-BE49-F238E27FC236}">
                <a16:creationId xmlns:a16="http://schemas.microsoft.com/office/drawing/2014/main" id="{102513E3-C06B-43C9-9149-BF130065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86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da-no-1">
            <a:extLst xmlns:a="http://schemas.openxmlformats.org/drawingml/2006/main">
              <a:ext uri="{FF2B5EF4-FFF2-40B4-BE49-F238E27FC236}">
                <a16:creationId xmlns:a16="http://schemas.microsoft.com/office/drawing/2014/main" id="{6E721A24-D721-40E7-A8F8-97B44406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0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01</a:t>
            </a:r>
          </a:p>
        </p:txBody>
      </p:sp>
      <p:sp>
        <p:nvSpPr>
          <p:cNvPr id="9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E2070FCF-DFB0-46C7-B142-5DD31AEE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52600"/>
            <a:ext cx="3714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核心矛盾与总体解法</a:t>
            </a:r>
          </a:p>
        </p:txBody>
      </p:sp>
      <p:sp>
        <p:nvSpPr>
          <p:cNvPr id="10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F684C4DA-8B9C-47CD-9C52-BBC08D30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52650"/>
            <a:ext cx="685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动态父子重排 → 线性 KV 冲突 → Grouped Request</a:t>
            </a:r>
          </a:p>
        </p:txBody>
      </p:sp>
      <p:sp>
        <p:nvSpPr>
          <p:cNvPr id="11" name="agenda-no-2">
            <a:extLst xmlns:a="http://schemas.openxmlformats.org/drawingml/2006/main">
              <a:ext uri="{FF2B5EF4-FFF2-40B4-BE49-F238E27FC236}">
                <a16:creationId xmlns:a16="http://schemas.microsoft.com/office/drawing/2014/main" id="{1FC94FA5-E325-44BD-9904-19EF204C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60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02</a:t>
            </a:r>
          </a:p>
        </p:txBody>
      </p:sp>
      <p:sp>
        <p:nvSpPr>
          <p:cNvPr id="12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E3AB2094-4413-4C66-83E3-421AE55D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8130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Host 搜索闭环与 Catalog</a:t>
            </a:r>
          </a:p>
        </p:txBody>
      </p:sp>
      <p:sp>
        <p:nvSpPr>
          <p:cNvPr id="13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05994978-A5BE-41B9-9822-84FD769C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813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逐 step Top-W、EOS、约束过滤与正确性边界</a:t>
            </a:r>
          </a:p>
        </p:txBody>
      </p:sp>
      <p:sp>
        <p:nvSpPr>
          <p:cNvPr id="14" name="agenda-no-3">
            <a:extLst xmlns:a="http://schemas.openxmlformats.org/drawingml/2006/main">
              <a:ext uri="{FF2B5EF4-FFF2-40B4-BE49-F238E27FC236}">
                <a16:creationId xmlns:a16="http://schemas.microsoft.com/office/drawing/2014/main" id="{EDE56263-84D8-402B-B4A4-496BDBAC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60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03</a:t>
            </a:r>
          </a:p>
        </p:txBody>
      </p:sp>
      <p:sp>
        <p:nvSpPr>
          <p:cNvPr id="15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12552E6D-8CC8-4E6A-9692-625CFD63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10000"/>
            <a:ext cx="3714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Engine 与 GPU 执行主链</a:t>
            </a:r>
          </a:p>
        </p:txBody>
      </p:sp>
      <p:sp>
        <p:nvSpPr>
          <p:cNvPr id="16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2280B5EF-BF40-4F39-A9B2-7B4AD45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10050"/>
            <a:ext cx="752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Batch → Scheduler/KV → Runner → BeamAttention</a:t>
            </a:r>
          </a:p>
        </p:txBody>
      </p:sp>
      <p:sp>
        <p:nvSpPr>
          <p:cNvPr id="17" name="agenda-no-4">
            <a:extLst xmlns:a="http://schemas.openxmlformats.org/drawingml/2006/main">
              <a:ext uri="{FF2B5EF4-FFF2-40B4-BE49-F238E27FC236}">
                <a16:creationId xmlns:a16="http://schemas.microsoft.com/office/drawing/2014/main" id="{867CE7CA-C9D1-4DF1-A9AB-80D12EA0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60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04</a:t>
            </a:r>
          </a:p>
        </p:txBody>
      </p:sp>
      <p:sp>
        <p:nvSpPr>
          <p:cNvPr id="18" name="agenda-title-4">
            <a:extLst xmlns:a="http://schemas.openxmlformats.org/drawingml/2006/main">
              <a:ext uri="{FF2B5EF4-FFF2-40B4-BE49-F238E27FC236}">
                <a16:creationId xmlns:a16="http://schemas.microsoft.com/office/drawing/2014/main" id="{951378DE-39C7-4344-B9EC-65B24AA4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387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代价、适用边界与演进方向</a:t>
            </a:r>
          </a:p>
        </p:txBody>
      </p:sp>
      <p:sp>
        <p:nvSpPr>
          <p:cNvPr id="19" name="agenda-desc-4">
            <a:extLst xmlns:a="http://schemas.openxmlformats.org/drawingml/2006/main">
              <a:ext uri="{FF2B5EF4-FFF2-40B4-BE49-F238E27FC236}">
                <a16:creationId xmlns:a16="http://schemas.microsoft.com/office/drawing/2014/main" id="{7A4C71A2-142B-4049-83C0-9B230188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387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Suffix 重算复杂度 → Beam KV fork/COW → 专家议题</a:t>
            </a:r>
          </a:p>
        </p:txBody>
      </p:sp>
      <p:sp>
        <p:nvSpPr>
          <p:cNvPr id="20" name="agenda-side">
            <a:extLst xmlns:a="http://schemas.openxmlformats.org/drawingml/2006/main">
              <a:ext uri="{FF2B5EF4-FFF2-40B4-BE49-F238E27FC236}">
                <a16:creationId xmlns:a16="http://schemas.microsoft.com/office/drawing/2014/main" id="{BF8909B2-801F-4980-B118-45230C18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52600"/>
            <a:ext cx="21717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1" name="agenda-side-title">
            <a:extLst xmlns:a="http://schemas.openxmlformats.org/drawingml/2006/main">
              <a:ext uri="{FF2B5EF4-FFF2-40B4-BE49-F238E27FC236}">
                <a16:creationId xmlns:a16="http://schemas.microsoft.com/office/drawing/2014/main" id="{C9109AFF-1AD7-4E08-A205-88EF2B4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00250"/>
            <a:ext cx="1676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阅读方法</a:t>
            </a:r>
          </a:p>
        </p:txBody>
      </p:sp>
      <p:sp>
        <p:nvSpPr>
          <p:cNvPr id="22" name="agenda-side-body">
            <a:extLst xmlns:a="http://schemas.openxmlformats.org/drawingml/2006/main">
              <a:ext uri="{FF2B5EF4-FFF2-40B4-BE49-F238E27FC236}">
                <a16:creationId xmlns:a16="http://schemas.microsoft.com/office/drawing/2014/main" id="{646C831D-97B4-46B4-8903-EB1697CB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67000"/>
            <a:ext cx="16764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先回答为什么难
再看 GR 如何保持
Attention 正确性
最后判断代价是否
值得以及下一步做什么</a:t>
            </a:r>
          </a:p>
        </p:txBody>
      </p:sp>
      <p:sp>
        <p:nvSpPr>
          <p:cNvPr id="23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66A1D325-F470-4885-BC05-01C35269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结构依据：vLLM-GR 在线 Beam Search 实际调用链</a:t>
            </a:r>
          </a:p>
        </p:txBody>
      </p:sp>
      <p:sp>
        <p:nvSpPr>
          <p:cNvPr id="24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159D8EAF-BA21-4C43-90CB-9B9187A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069200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F04248C-2CB2-403E-8339-01708675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在线总流程：请求进入一次，Beam 决策逐 step 闭环</a:t>
            </a:r>
          </a:p>
        </p:txBody>
      </p:sp>
      <p:cxnSp>
        <p:nvCxnSpPr>
          <p:cNvPr id="39" name="slide-3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online-serving-lane">
            <a:extLst xmlns:a="http://schemas.openxmlformats.org/drawingml/2006/main">
              <a:ext uri="{FF2B5EF4-FFF2-40B4-BE49-F238E27FC236}">
                <a16:creationId xmlns:a16="http://schemas.microsoft.com/office/drawing/2014/main" id="{13CAF1D0-2E04-408D-BD71-66447CCC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nline-host-lane">
            <a:extLst xmlns:a="http://schemas.openxmlformats.org/drawingml/2006/main">
              <a:ext uri="{FF2B5EF4-FFF2-40B4-BE49-F238E27FC236}">
                <a16:creationId xmlns:a16="http://schemas.microsoft.com/office/drawing/2014/main" id="{C33691D0-FDA0-467B-B45E-A5575C34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nline-engine-lane">
            <a:extLst xmlns:a="http://schemas.openxmlformats.org/drawingml/2006/main">
              <a:ext uri="{FF2B5EF4-FFF2-40B4-BE49-F238E27FC236}">
                <a16:creationId xmlns:a16="http://schemas.microsoft.com/office/drawing/2014/main" id="{3175D864-E3D9-4509-9F78-987D64DC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nline-gpu-lane">
            <a:extLst xmlns:a="http://schemas.openxmlformats.org/drawingml/2006/main">
              <a:ext uri="{FF2B5EF4-FFF2-40B4-BE49-F238E27FC236}">
                <a16:creationId xmlns:a16="http://schemas.microsoft.com/office/drawing/2014/main" id="{33C4BB08-8AD8-4B32-9C51-68C9BAFD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nline-serving-label">
            <a:extLst xmlns:a="http://schemas.openxmlformats.org/drawingml/2006/main">
              <a:ext uri="{FF2B5EF4-FFF2-40B4-BE49-F238E27FC236}">
                <a16:creationId xmlns:a16="http://schemas.microsoft.com/office/drawing/2014/main" id="{582DDBF5-9CF5-4D23-9F36-CB6EE39D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895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SERVING</a:t>
            </a:r>
          </a:p>
        </p:txBody>
      </p:sp>
      <p:sp>
        <p:nvSpPr>
          <p:cNvPr id="8" name="online-host-label">
            <a:extLst xmlns:a="http://schemas.openxmlformats.org/drawingml/2006/main">
              <a:ext uri="{FF2B5EF4-FFF2-40B4-BE49-F238E27FC236}">
                <a16:creationId xmlns:a16="http://schemas.microsoft.com/office/drawing/2014/main" id="{FFC452BC-1751-4FA0-9AA8-5DED4993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895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HOST</a:t>
            </a:r>
          </a:p>
        </p:txBody>
      </p:sp>
      <p:sp>
        <p:nvSpPr>
          <p:cNvPr id="9" name="online-engine-label">
            <a:extLst xmlns:a="http://schemas.openxmlformats.org/drawingml/2006/main">
              <a:ext uri="{FF2B5EF4-FFF2-40B4-BE49-F238E27FC236}">
                <a16:creationId xmlns:a16="http://schemas.microsoft.com/office/drawing/2014/main" id="{21C6526A-B5C7-40AB-ACC8-49B73DB8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895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ENGINE</a:t>
            </a:r>
          </a:p>
        </p:txBody>
      </p:sp>
      <p:sp>
        <p:nvSpPr>
          <p:cNvPr id="10" name="online-gpu-label">
            <a:extLst xmlns:a="http://schemas.openxmlformats.org/drawingml/2006/main">
              <a:ext uri="{FF2B5EF4-FFF2-40B4-BE49-F238E27FC236}">
                <a16:creationId xmlns:a16="http://schemas.microsoft.com/office/drawing/2014/main" id="{2CBDE5C6-F036-47E2-A2CA-D4B57D0F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895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GPU</a:t>
            </a:r>
          </a:p>
        </p:txBody>
      </p:sp>
      <p:cxnSp>
        <p:nvCxnSpPr>
          <p:cNvPr id="48" name="online-a1"/>
          <p:cNvCxnSpPr/>
          <p:nvPr/>
        </p:nvCxnSpPr>
        <p:spPr>
          <a:xfrm xmlns:a="http://schemas.openxmlformats.org/drawingml/2006/main">
            <a:off x="2876550" y="1943100"/>
            <a:ext cx="5334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9" name="online-a2"/>
          <p:cNvCxnSpPr/>
          <p:nvPr/>
        </p:nvCxnSpPr>
        <p:spPr>
          <a:xfrm xmlns:a="http://schemas.openxmlformats.org/drawingml/2006/main">
            <a:off x="5029200" y="1943100"/>
            <a:ext cx="53340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0" name="online-a3"/>
          <p:cNvCxnSpPr/>
          <p:nvPr/>
        </p:nvCxnSpPr>
        <p:spPr>
          <a:xfrm xmlns:a="http://schemas.openxmlformats.org/drawingml/2006/main">
            <a:off x="7181850" y="3048000"/>
            <a:ext cx="53340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1" name="online-a4"/>
          <p:cNvCxnSpPr/>
          <p:nvPr/>
        </p:nvCxnSpPr>
        <p:spPr>
          <a:xfrm xmlns:a="http://schemas.openxmlformats.org/drawingml/2006/main">
            <a:off x="9334500" y="4152900"/>
            <a:ext cx="53340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5" name="online-node-request">
            <a:extLst xmlns:a="http://schemas.openxmlformats.org/drawingml/2006/main">
              <a:ext uri="{FF2B5EF4-FFF2-40B4-BE49-F238E27FC236}">
                <a16:creationId xmlns:a16="http://schemas.microsoft.com/office/drawing/2014/main" id="{4D76A906-66D9-47C8-8B9C-28333AA9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144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online-node-params">
            <a:extLst xmlns:a="http://schemas.openxmlformats.org/drawingml/2006/main">
              <a:ext uri="{FF2B5EF4-FFF2-40B4-BE49-F238E27FC236}">
                <a16:creationId xmlns:a16="http://schemas.microsoft.com/office/drawing/2014/main" id="{81A75AB8-1C41-4D5C-9235-84D5CAC2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1925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7" name="online-node-loop">
            <a:extLst xmlns:a="http://schemas.openxmlformats.org/drawingml/2006/main">
              <a:ext uri="{FF2B5EF4-FFF2-40B4-BE49-F238E27FC236}">
                <a16:creationId xmlns:a16="http://schemas.microsoft.com/office/drawing/2014/main" id="{ECD886E9-8C72-49CF-81E4-2528539E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2415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online-node-scheduler">
            <a:extLst xmlns:a="http://schemas.openxmlformats.org/drawingml/2006/main">
              <a:ext uri="{FF2B5EF4-FFF2-40B4-BE49-F238E27FC236}">
                <a16:creationId xmlns:a16="http://schemas.microsoft.com/office/drawing/2014/main" id="{6D245D4F-E6F3-4701-9CA9-C12CDF1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online-node-gpu">
            <a:extLst xmlns:a="http://schemas.openxmlformats.org/drawingml/2006/main">
              <a:ext uri="{FF2B5EF4-FFF2-40B4-BE49-F238E27FC236}">
                <a16:creationId xmlns:a16="http://schemas.microsoft.com/office/drawing/2014/main" id="{0FCD977A-3048-455E-9680-9292771C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339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online-request-text">
            <a:extLst xmlns:a="http://schemas.openxmlformats.org/drawingml/2006/main">
              <a:ext uri="{FF2B5EF4-FFF2-40B4-BE49-F238E27FC236}">
                <a16:creationId xmlns:a16="http://schemas.microsoft.com/office/drawing/2014/main" id="{45A04D43-92AE-4170-A23E-7E4E05F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907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OpenAI 请求</a:t>
            </a:r>
          </a:p>
        </p:txBody>
      </p:sp>
      <p:sp>
        <p:nvSpPr>
          <p:cNvPr id="21" name="online-params-text">
            <a:extLst xmlns:a="http://schemas.openxmlformats.org/drawingml/2006/main">
              <a:ext uri="{FF2B5EF4-FFF2-40B4-BE49-F238E27FC236}">
                <a16:creationId xmlns:a16="http://schemas.microsoft.com/office/drawing/2014/main" id="{D2A4FE0F-8A4E-4423-B0D3-F7692053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解析 Beam Params</a:t>
            </a:r>
          </a:p>
        </p:txBody>
      </p:sp>
      <p:sp>
        <p:nvSpPr>
          <p:cNvPr id="22" name="online-loop-text">
            <a:extLst xmlns:a="http://schemas.openxmlformats.org/drawingml/2006/main">
              <a:ext uri="{FF2B5EF4-FFF2-40B4-BE49-F238E27FC236}">
                <a16:creationId xmlns:a16="http://schemas.microsoft.com/office/drawing/2014/main" id="{E571808E-D4FA-406B-AC86-C61146EA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1390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Host Beam Loop
+ Catalog 并行查询</a:t>
            </a:r>
          </a:p>
        </p:txBody>
      </p:sp>
      <p:sp>
        <p:nvSpPr>
          <p:cNvPr id="23" name="online-scheduler-text">
            <a:extLst xmlns:a="http://schemas.openxmlformats.org/drawingml/2006/main">
              <a:ext uri="{FF2B5EF4-FFF2-40B4-BE49-F238E27FC236}">
                <a16:creationId xmlns:a16="http://schemas.microsoft.com/office/drawing/2014/main" id="{8008126E-4F31-4289-AA38-78B4E89A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05250"/>
            <a:ext cx="1390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Grouped Update
Scheduler + KV</a:t>
            </a:r>
          </a:p>
        </p:txBody>
      </p:sp>
      <p:sp>
        <p:nvSpPr>
          <p:cNvPr id="24" name="online-gpu-text">
            <a:extLst xmlns:a="http://schemas.openxmlformats.org/drawingml/2006/main">
              <a:ext uri="{FF2B5EF4-FFF2-40B4-BE49-F238E27FC236}">
                <a16:creationId xmlns:a16="http://schemas.microsoft.com/office/drawing/2014/main" id="{1313D8ED-AD73-4365-8D74-629C1F46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010150"/>
            <a:ext cx="1447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Runner + Model
BeamAttention</a:t>
            </a:r>
          </a:p>
        </p:txBody>
      </p:sp>
      <p:cxnSp>
        <p:nvCxnSpPr>
          <p:cNvPr id="62" name="online-return-gpu-engine"/>
          <p:cNvCxnSpPr/>
          <p:nvPr/>
        </p:nvCxnSpPr>
        <p:spPr>
          <a:xfrm xmlns:a="http://schemas.openxmlformats.org/drawingml/2006/main">
            <a:off x="7715250" y="5410200"/>
            <a:ext cx="21526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</a:ln>
        </p:spPr>
      </p:cxnSp>
      <p:cxnSp>
        <p:nvCxnSpPr>
          <p:cNvPr id="63" name="online-return-engine-host"/>
          <p:cNvCxnSpPr/>
          <p:nvPr/>
        </p:nvCxnSpPr>
        <p:spPr>
          <a:xfrm xmlns:a="http://schemas.openxmlformats.org/drawingml/2006/main">
            <a:off x="5562600" y="3200400"/>
            <a:ext cx="215265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</a:ln>
        </p:spPr>
      </p:cxnSp>
      <p:cxnSp>
        <p:nvCxnSpPr>
          <p:cNvPr id="64" name="online-return-host"/>
          <p:cNvCxnSpPr/>
          <p:nvPr/>
        </p:nvCxnSpPr>
        <p:spPr>
          <a:xfrm xmlns:a="http://schemas.openxmlformats.org/drawingml/2006/main">
            <a:off x="3409950" y="3200400"/>
            <a:ext cx="21526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</a:ln>
        </p:spPr>
      </p:cxnSp>
      <p:sp>
        <p:nvSpPr>
          <p:cNvPr id="28" name="online-return-label-1">
            <a:extLst xmlns:a="http://schemas.openxmlformats.org/drawingml/2006/main">
              <a:ext uri="{FF2B5EF4-FFF2-40B4-BE49-F238E27FC236}">
                <a16:creationId xmlns:a16="http://schemas.microsoft.com/office/drawing/2014/main" id="{4C7BA80F-46CB-4138-A0CF-69CAD5F3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1970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t>W×K logprobs</a:t>
            </a:r>
          </a:p>
        </p:txBody>
      </p:sp>
      <p:sp>
        <p:nvSpPr>
          <p:cNvPr id="29" name="online-return-label-2">
            <a:extLst xmlns:a="http://schemas.openxmlformats.org/drawingml/2006/main">
              <a:ext uri="{FF2B5EF4-FFF2-40B4-BE49-F238E27FC236}">
                <a16:creationId xmlns:a16="http://schemas.microsoft.com/office/drawing/2014/main" id="{7FB6537B-04A6-4FF2-BDC9-B2E2FE4B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t>flatten output</a:t>
            </a:r>
          </a:p>
        </p:txBody>
      </p:sp>
      <p:sp>
        <p:nvSpPr>
          <p:cNvPr id="30" name="online-return-label-3">
            <a:extLst xmlns:a="http://schemas.openxmlformats.org/drawingml/2006/main">
              <a:ext uri="{FF2B5EF4-FFF2-40B4-BE49-F238E27FC236}">
                <a16:creationId xmlns:a16="http://schemas.microsoft.com/office/drawing/2014/main" id="{51C8ABF1-8F6D-48C8-8055-2F7DA63A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339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t>Catalog filter → EOS → 全局 Top-W</a:t>
            </a:r>
          </a:p>
        </p:txBody>
      </p:sp>
      <p:cxnSp>
        <p:nvCxnSpPr>
          <p:cNvPr id="68" name="online-loop-back-v"/>
          <p:cNvCxnSpPr/>
          <p:nvPr/>
        </p:nvCxnSpPr>
        <p:spPr>
          <a:xfrm xmlns:a="http://schemas.openxmlformats.org/drawingml/2006/main">
            <a:off x="2152650" y="3352800"/>
            <a:ext cx="286" cy="2324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</a:ln>
        </p:spPr>
      </p:cxnSp>
      <p:cxnSp>
        <p:nvCxnSpPr>
          <p:cNvPr id="69" name="online-loop-back-h"/>
          <p:cNvCxnSpPr/>
          <p:nvPr/>
        </p:nvCxnSpPr>
        <p:spPr>
          <a:xfrm xmlns:a="http://schemas.openxmlformats.org/drawingml/2006/main">
            <a:off x="2152650" y="5676900"/>
            <a:ext cx="7524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</a:ln>
        </p:spPr>
      </p:cxnSp>
      <p:sp>
        <p:nvSpPr>
          <p:cNvPr id="33" name="online-loop-back-text">
            <a:extLst xmlns:a="http://schemas.openxmlformats.org/drawingml/2006/main">
              <a:ext uri="{FF2B5EF4-FFF2-40B4-BE49-F238E27FC236}">
                <a16:creationId xmlns:a16="http://schemas.microsoft.com/office/drawing/2014/main" id="{6996AF46-3346-44A8-8D50-8424739B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102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未结束：生成 parent/child 映射，进入下一 step</a:t>
            </a:r>
          </a:p>
        </p:txBody>
      </p:sp>
      <p:sp>
        <p:nvSpPr>
          <p:cNvPr id="34" name="online-takeaway-bg">
            <a:extLst xmlns:a="http://schemas.openxmlformats.org/drawingml/2006/main">
              <a:ext uri="{FF2B5EF4-FFF2-40B4-BE49-F238E27FC236}">
                <a16:creationId xmlns:a16="http://schemas.microsoft.com/office/drawing/2014/main" id="{D6D6641F-4309-49F8-9533-00982886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online-takeaway">
            <a:extLst xmlns:a="http://schemas.openxmlformats.org/drawingml/2006/main">
              <a:ext uri="{FF2B5EF4-FFF2-40B4-BE49-F238E27FC236}">
                <a16:creationId xmlns:a16="http://schemas.microsoft.com/office/drawing/2014/main" id="{3C0DD15E-E319-4A5B-9B1D-6A8C548E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116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结束：清理 session / KV → 重建最终 logprobs → 返回 best beams</a:t>
            </a:r>
          </a:p>
        </p:txBody>
      </p:sp>
      <p:sp>
        <p:nvSpPr>
          <p:cNvPr id="36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7B792348-F3C0-491F-ACAC-ECABCEAE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在线代码：openai/serving_engine.py:218–682 · protocol.py:10–28</a:t>
            </a:r>
          </a:p>
        </p:txBody>
      </p:sp>
      <p:sp>
        <p:nvSpPr>
          <p:cNvPr id="37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6F04014D-9D7A-426A-B285-7F923832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1767025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6B7AFC2-1DA2-4A2B-B28E-CD0B788D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核心矛盾：Beam 动态重排，KV 却线性生长</a:t>
            </a:r>
          </a:p>
        </p:txBody>
      </p:sp>
      <p:cxnSp>
        <p:nvCxnSpPr>
          <p:cNvPr id="36" name="slide-4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7" name="branch-b0-c0"/>
          <p:cNvCxnSpPr/>
          <p:nvPr/>
        </p:nvCxnSpPr>
        <p:spPr>
          <a:xfrm xmlns:a="http://schemas.openxmlformats.org/drawingml/2006/main">
            <a:off x="2800350" y="1790700"/>
            <a:ext cx="310515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8" name="branch-b0-c1"/>
          <p:cNvCxnSpPr/>
          <p:nvPr/>
        </p:nvCxnSpPr>
        <p:spPr>
          <a:xfrm xmlns:a="http://schemas.openxmlformats.org/drawingml/2006/main">
            <a:off x="2800350" y="2381250"/>
            <a:ext cx="310515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9" name="branch-b2-c2"/>
          <p:cNvCxnSpPr/>
          <p:nvPr/>
        </p:nvCxnSpPr>
        <p:spPr>
          <a:xfrm xmlns:a="http://schemas.openxmlformats.org/drawingml/2006/main">
            <a:off x="2800350" y="4057650"/>
            <a:ext cx="31051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6" name="parent-column">
            <a:extLst xmlns:a="http://schemas.openxmlformats.org/drawingml/2006/main">
              <a:ext uri="{FF2B5EF4-FFF2-40B4-BE49-F238E27FC236}">
                <a16:creationId xmlns:a16="http://schemas.microsoft.com/office/drawing/2014/main" id="{F72547E1-C2A6-450D-9133-3BC886EA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8575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ild-column">
            <a:extLst xmlns:a="http://schemas.openxmlformats.org/drawingml/2006/main">
              <a:ext uri="{FF2B5EF4-FFF2-40B4-BE49-F238E27FC236}">
                <a16:creationId xmlns:a16="http://schemas.microsoft.com/office/drawing/2014/main" id="{BD66EBC8-2FD4-407A-97B1-132CF615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30289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e-column">
            <a:extLst xmlns:a="http://schemas.openxmlformats.org/drawingml/2006/main">
              <a:ext uri="{FF2B5EF4-FFF2-40B4-BE49-F238E27FC236}">
                <a16:creationId xmlns:a16="http://schemas.microsoft.com/office/drawing/2014/main" id="{BF9CD80A-AB8B-4093-B406-7660C6D2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09700"/>
            <a:ext cx="2667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ent-title">
            <a:extLst xmlns:a="http://schemas.openxmlformats.org/drawingml/2006/main">
              <a:ext uri="{FF2B5EF4-FFF2-40B4-BE49-F238E27FC236}">
                <a16:creationId xmlns:a16="http://schemas.microsoft.com/office/drawing/2014/main" id="{A37BD224-D55B-424A-8800-9DDFE446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Step t：活跃父 Beam</a:t>
            </a:r>
          </a:p>
        </p:txBody>
      </p:sp>
      <p:sp>
        <p:nvSpPr>
          <p:cNvPr id="10" name="parent-b0">
            <a:extLst xmlns:a="http://schemas.openxmlformats.org/drawingml/2006/main">
              <a:ext uri="{FF2B5EF4-FFF2-40B4-BE49-F238E27FC236}">
                <a16:creationId xmlns:a16="http://schemas.microsoft.com/office/drawing/2014/main" id="{E57967DA-4988-4580-AF34-ECAAA8C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828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parent-b1">
            <a:extLst xmlns:a="http://schemas.openxmlformats.org/drawingml/2006/main">
              <a:ext uri="{FF2B5EF4-FFF2-40B4-BE49-F238E27FC236}">
                <a16:creationId xmlns:a16="http://schemas.microsoft.com/office/drawing/2014/main" id="{9AE8C3C5-8744-4BDF-8B7A-A85087DF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828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arent-b2">
            <a:extLst xmlns:a="http://schemas.openxmlformats.org/drawingml/2006/main">
              <a:ext uri="{FF2B5EF4-FFF2-40B4-BE49-F238E27FC236}">
                <a16:creationId xmlns:a16="http://schemas.microsoft.com/office/drawing/2014/main" id="{BE68EAD7-B4B6-43EB-A8D2-C0941E57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828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3" name="parent-b0-text">
            <a:extLst xmlns:a="http://schemas.openxmlformats.org/drawingml/2006/main">
              <a:ext uri="{FF2B5EF4-FFF2-40B4-BE49-F238E27FC236}">
                <a16:creationId xmlns:a16="http://schemas.microsoft.com/office/drawing/2014/main" id="{F2565C95-9E61-4CE9-867F-B383DE44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1562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B₀ · score 9.2</a:t>
            </a:r>
          </a:p>
        </p:txBody>
      </p:sp>
      <p:sp>
        <p:nvSpPr>
          <p:cNvPr id="14" name="parent-b1-text">
            <a:extLst xmlns:a="http://schemas.openxmlformats.org/drawingml/2006/main">
              <a:ext uri="{FF2B5EF4-FFF2-40B4-BE49-F238E27FC236}">
                <a16:creationId xmlns:a16="http://schemas.microsoft.com/office/drawing/2014/main" id="{A02DAEDB-5C25-4B05-90C4-90881CDB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562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B₁ · score 8.9</a:t>
            </a:r>
          </a:p>
        </p:txBody>
      </p:sp>
      <p:sp>
        <p:nvSpPr>
          <p:cNvPr id="15" name="parent-b2-text">
            <a:extLst xmlns:a="http://schemas.openxmlformats.org/drawingml/2006/main">
              <a:ext uri="{FF2B5EF4-FFF2-40B4-BE49-F238E27FC236}">
                <a16:creationId xmlns:a16="http://schemas.microsoft.com/office/drawing/2014/main" id="{693BC33A-75B1-48D7-9A91-8C632C7C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1562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B₂ · score 8.7</a:t>
            </a:r>
          </a:p>
        </p:txBody>
      </p:sp>
      <p:sp>
        <p:nvSpPr>
          <p:cNvPr id="16" name="parent-b1-pruned">
            <a:extLst xmlns:a="http://schemas.openxmlformats.org/drawingml/2006/main">
              <a:ext uri="{FF2B5EF4-FFF2-40B4-BE49-F238E27FC236}">
                <a16:creationId xmlns:a16="http://schemas.microsoft.com/office/drawing/2014/main" id="{25EB1483-A738-4B3B-AF1E-1600172E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242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14343"/>
                </a:solidFill>
                <a:latin typeface="Noto Sans SC"/>
                <a:ea typeface="Noto Sans SC"/>
                <a:cs typeface="Noto Sans SC"/>
              </a:defRPr>
            </a:pPr>
            <a:r>
              <a:t>淘汰</a:t>
            </a:r>
          </a:p>
        </p:txBody>
      </p:sp>
      <p:sp>
        <p:nvSpPr>
          <p:cNvPr id="17" name="child-title">
            <a:extLst xmlns:a="http://schemas.openxmlformats.org/drawingml/2006/main">
              <a:ext uri="{FF2B5EF4-FFF2-40B4-BE49-F238E27FC236}">
                <a16:creationId xmlns:a16="http://schemas.microsoft.com/office/drawing/2014/main" id="{49CD4FD8-2223-4AA6-8F1B-4CD6BF37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3830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Step t+1：全局 Top-W</a:t>
            </a:r>
          </a:p>
        </p:txBody>
      </p:sp>
      <p:sp>
        <p:nvSpPr>
          <p:cNvPr id="18" name="child-c0">
            <a:extLst xmlns:a="http://schemas.openxmlformats.org/drawingml/2006/main">
              <a:ext uri="{FF2B5EF4-FFF2-40B4-BE49-F238E27FC236}">
                <a16:creationId xmlns:a16="http://schemas.microsoft.com/office/drawing/2014/main" id="{5F76B2FD-C7A4-4528-A583-AAB36D0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457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child-c1">
            <a:extLst xmlns:a="http://schemas.openxmlformats.org/drawingml/2006/main">
              <a:ext uri="{FF2B5EF4-FFF2-40B4-BE49-F238E27FC236}">
                <a16:creationId xmlns:a16="http://schemas.microsoft.com/office/drawing/2014/main" id="{CD7F2460-2AC1-4CF3-B674-B46747C5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457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child-c2">
            <a:extLst xmlns:a="http://schemas.openxmlformats.org/drawingml/2006/main">
              <a:ext uri="{FF2B5EF4-FFF2-40B4-BE49-F238E27FC236}">
                <a16:creationId xmlns:a16="http://schemas.microsoft.com/office/drawing/2014/main" id="{4BFEB991-4462-4B65-8021-284A1CEB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2457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1" name="child-c0-text">
            <a:extLst xmlns:a="http://schemas.openxmlformats.org/drawingml/2006/main">
              <a:ext uri="{FF2B5EF4-FFF2-40B4-BE49-F238E27FC236}">
                <a16:creationId xmlns:a16="http://schemas.microsoft.com/office/drawing/2014/main" id="{63E07B25-7B10-47DB-97E8-E8A65608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98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B′₀ ← B₀ + token x</a:t>
            </a:r>
          </a:p>
        </p:txBody>
      </p:sp>
      <p:sp>
        <p:nvSpPr>
          <p:cNvPr id="22" name="child-c1-text">
            <a:extLst xmlns:a="http://schemas.openxmlformats.org/drawingml/2006/main">
              <a:ext uri="{FF2B5EF4-FFF2-40B4-BE49-F238E27FC236}">
                <a16:creationId xmlns:a16="http://schemas.microsoft.com/office/drawing/2014/main" id="{F99329AF-D467-447B-B3E4-0E5F9323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956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B′₁ ← B₀ + token y</a:t>
            </a:r>
          </a:p>
        </p:txBody>
      </p:sp>
      <p:sp>
        <p:nvSpPr>
          <p:cNvPr id="23" name="child-c2-text">
            <a:extLst xmlns:a="http://schemas.openxmlformats.org/drawingml/2006/main">
              <a:ext uri="{FF2B5EF4-FFF2-40B4-BE49-F238E27FC236}">
                <a16:creationId xmlns:a16="http://schemas.microsoft.com/office/drawing/2014/main" id="{07AEB9C8-4C5D-429A-97DE-FAA312F4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B′₂ ← B₂ + token z</a:t>
            </a:r>
          </a:p>
        </p:txBody>
      </p:sp>
      <p:sp>
        <p:nvSpPr>
          <p:cNvPr id="24" name="state-title">
            <a:extLst xmlns:a="http://schemas.openxmlformats.org/drawingml/2006/main">
              <a:ext uri="{FF2B5EF4-FFF2-40B4-BE49-F238E27FC236}">
                <a16:creationId xmlns:a16="http://schemas.microsoft.com/office/drawing/2014/main" id="{D11ED1BC-0E0F-45DC-B857-C2A97284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38300"/>
            <a:ext cx="2209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系统必须同时处理</a:t>
            </a:r>
          </a:p>
        </p:txBody>
      </p:sp>
      <p:sp>
        <p:nvSpPr>
          <p:cNvPr id="25" name="state-fork">
            <a:extLst xmlns:a="http://schemas.openxmlformats.org/drawingml/2006/main">
              <a:ext uri="{FF2B5EF4-FFF2-40B4-BE49-F238E27FC236}">
                <a16:creationId xmlns:a16="http://schemas.microsoft.com/office/drawing/2014/main" id="{B8213B4D-7EDA-4270-97E5-92A29A32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24100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① Fork</a:t>
            </a:r>
          </a:p>
        </p:txBody>
      </p:sp>
      <p:sp>
        <p:nvSpPr>
          <p:cNvPr id="26" name="state-fork-desc">
            <a:extLst xmlns:a="http://schemas.openxmlformats.org/drawingml/2006/main">
              <a:ext uri="{FF2B5EF4-FFF2-40B4-BE49-F238E27FC236}">
                <a16:creationId xmlns:a16="http://schemas.microsoft.com/office/drawing/2014/main" id="{4FF0907C-658B-43B3-8968-41185C63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一份 parent KV → 多个 child</a:t>
            </a:r>
          </a:p>
        </p:txBody>
      </p:sp>
      <p:sp>
        <p:nvSpPr>
          <p:cNvPr id="27" name="state-prune">
            <a:extLst xmlns:a="http://schemas.openxmlformats.org/drawingml/2006/main">
              <a:ext uri="{FF2B5EF4-FFF2-40B4-BE49-F238E27FC236}">
                <a16:creationId xmlns:a16="http://schemas.microsoft.com/office/drawing/2014/main" id="{36F226C0-D4CB-4C83-AC69-0AA26FE3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4343"/>
                </a:solidFill>
                <a:latin typeface="Noto Sans SC"/>
                <a:ea typeface="Noto Sans SC"/>
                <a:cs typeface="Noto Sans SC"/>
              </a:defRPr>
            </a:pPr>
            <a:r>
              <a:t>② Prune</a:t>
            </a:r>
          </a:p>
        </p:txBody>
      </p:sp>
      <p:sp>
        <p:nvSpPr>
          <p:cNvPr id="28" name="state-prune-desc">
            <a:extLst xmlns:a="http://schemas.openxmlformats.org/drawingml/2006/main">
              <a:ext uri="{FF2B5EF4-FFF2-40B4-BE49-F238E27FC236}">
                <a16:creationId xmlns:a16="http://schemas.microsoft.com/office/drawing/2014/main" id="{6B1E7597-BB99-4F03-B2F4-6DC3F988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淘汰 beam，释放引用与 block</a:t>
            </a:r>
          </a:p>
        </p:txBody>
      </p:sp>
      <p:sp>
        <p:nvSpPr>
          <p:cNvPr id="29" name="state-reorder">
            <a:extLst xmlns:a="http://schemas.openxmlformats.org/drawingml/2006/main">
              <a:ext uri="{FF2B5EF4-FFF2-40B4-BE49-F238E27FC236}">
                <a16:creationId xmlns:a16="http://schemas.microsoft.com/office/drawing/2014/main" id="{938F935F-A62D-45F8-AEF8-7970573C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29100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③ Reorder</a:t>
            </a:r>
          </a:p>
        </p:txBody>
      </p:sp>
      <p:sp>
        <p:nvSpPr>
          <p:cNvPr id="30" name="state-reorder-desc">
            <a:extLst xmlns:a="http://schemas.openxmlformats.org/drawingml/2006/main">
              <a:ext uri="{FF2B5EF4-FFF2-40B4-BE49-F238E27FC236}">
                <a16:creationId xmlns:a16="http://schemas.microsoft.com/office/drawing/2014/main" id="{724A9949-0973-426C-97C7-7A31856D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910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新 beam 顺序不再等于旧槽位</a:t>
            </a:r>
          </a:p>
        </p:txBody>
      </p:sp>
      <p:sp>
        <p:nvSpPr>
          <p:cNvPr id="31" name="core-conflict-bottom">
            <a:extLst xmlns:a="http://schemas.openxmlformats.org/drawingml/2006/main">
              <a:ext uri="{FF2B5EF4-FFF2-40B4-BE49-F238E27FC236}">
                <a16:creationId xmlns:a16="http://schemas.microsoft.com/office/drawing/2014/main" id="{A7447382-B0C4-499E-BD27-C39E5DBF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114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re-conflict-text">
            <a:extLst xmlns:a="http://schemas.openxmlformats.org/drawingml/2006/main">
              <a:ext uri="{FF2B5EF4-FFF2-40B4-BE49-F238E27FC236}">
                <a16:creationId xmlns:a16="http://schemas.microsoft.com/office/drawing/2014/main" id="{BDFF25E2-7808-44F2-94A0-B0E40E34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87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原生 Request / block table 假设“一条序列追加 token”；Exact Beam 要求 parent KV 可复制、淘汰并重排。Top-K 只是表面，状态继承才是系统难点。</a:t>
            </a:r>
          </a:p>
        </p:txBody>
      </p:sp>
      <p:sp>
        <p:nvSpPr>
          <p:cNvPr id="33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15D32804-4B45-424A-A576-5A8C3A17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BeamRequestStepUpdate 字段：parent_beam_ids / child_beam_ids / pruned_ids / beam_tokens</a:t>
            </a:r>
          </a:p>
        </p:txBody>
      </p:sp>
      <p:sp>
        <p:nvSpPr>
          <p:cNvPr id="34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EAFB4DCF-C420-4990-B16E-EE2686A5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1903964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ACDEEF0-0426-4412-A4ED-33D1180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简单拼 Batch 会让不同 Beam 互相看见</a:t>
            </a:r>
          </a:p>
        </p:txBody>
      </p:sp>
      <p:cxnSp>
        <p:nvCxnSpPr>
          <p:cNvPr id="35" name="slide-5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6" name="packed-bad-arrow"/>
          <p:cNvCxnSpPr/>
          <p:nvPr/>
        </p:nvCxnSpPr>
        <p:spPr>
          <a:xfrm xmlns:a="http://schemas.openxmlformats.org/drawingml/2006/main">
            <a:off x="2190750" y="3390900"/>
            <a:ext cx="8763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4343"/>
            </a:solidFill>
            <a:prstDash val="solid"/>
          </a:ln>
        </p:spPr>
      </p:cxnSp>
      <p:cxnSp>
        <p:nvCxnSpPr>
          <p:cNvPr id="37" name="packed-good-arrow"/>
          <p:cNvCxnSpPr/>
          <p:nvPr/>
        </p:nvCxnSpPr>
        <p:spPr>
          <a:xfrm xmlns:a="http://schemas.openxmlformats.org/drawingml/2006/main">
            <a:off x="7143750" y="3390900"/>
            <a:ext cx="8763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855A"/>
            </a:solidFill>
            <a:prstDash val="solid"/>
          </a:ln>
        </p:spPr>
      </p:cxnSp>
      <p:sp>
        <p:nvSpPr>
          <p:cNvPr id="5" name="packed-session-title">
            <a:extLst xmlns:a="http://schemas.openxmlformats.org/drawingml/2006/main">
              <a:ext uri="{FF2B5EF4-FFF2-40B4-BE49-F238E27FC236}">
                <a16:creationId xmlns:a16="http://schemas.microsoft.com/office/drawing/2014/main" id="{54654829-6195-46A3-AE05-CDDF121B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Packed session</a:t>
            </a:r>
          </a:p>
        </p:txBody>
      </p:sp>
      <p:sp>
        <p:nvSpPr>
          <p:cNvPr id="6" name="packed-p">
            <a:extLst xmlns:a="http://schemas.openxmlformats.org/drawingml/2006/main">
              <a:ext uri="{FF2B5EF4-FFF2-40B4-BE49-F238E27FC236}">
                <a16:creationId xmlns:a16="http://schemas.microsoft.com/office/drawing/2014/main" id="{84AC4E65-0A3F-4607-AD80-C871BFC0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262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packed-s0">
            <a:extLst xmlns:a="http://schemas.openxmlformats.org/drawingml/2006/main">
              <a:ext uri="{FF2B5EF4-FFF2-40B4-BE49-F238E27FC236}">
                <a16:creationId xmlns:a16="http://schemas.microsoft.com/office/drawing/2014/main" id="{FE65495B-1E10-4929-970C-B37946E2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431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acked-s1">
            <a:extLst xmlns:a="http://schemas.openxmlformats.org/drawingml/2006/main">
              <a:ext uri="{FF2B5EF4-FFF2-40B4-BE49-F238E27FC236}">
                <a16:creationId xmlns:a16="http://schemas.microsoft.com/office/drawing/2014/main" id="{B412B194-0662-4CAF-B834-110CA08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acked-s2">
            <a:extLst xmlns:a="http://schemas.openxmlformats.org/drawingml/2006/main">
              <a:ext uri="{FF2B5EF4-FFF2-40B4-BE49-F238E27FC236}">
                <a16:creationId xmlns:a16="http://schemas.microsoft.com/office/drawing/2014/main" id="{53371587-DC6D-428E-AEF7-3D1F04DA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4310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acked-p-text">
            <a:extLst xmlns:a="http://schemas.openxmlformats.org/drawingml/2006/main">
              <a:ext uri="{FF2B5EF4-FFF2-40B4-BE49-F238E27FC236}">
                <a16:creationId xmlns:a16="http://schemas.microsoft.com/office/drawing/2014/main" id="{57C446FF-96A0-4932-9A5C-2431D213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24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共享 Prefix P</a:t>
            </a:r>
          </a:p>
        </p:txBody>
      </p:sp>
      <p:sp>
        <p:nvSpPr>
          <p:cNvPr id="11" name="packed-s0-text">
            <a:extLst xmlns:a="http://schemas.openxmlformats.org/drawingml/2006/main">
              <a:ext uri="{FF2B5EF4-FFF2-40B4-BE49-F238E27FC236}">
                <a16:creationId xmlns:a16="http://schemas.microsoft.com/office/drawing/2014/main" id="{B62B3F50-6CEE-45CA-863F-9E71B683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Suffix S₀</a:t>
            </a:r>
          </a:p>
        </p:txBody>
      </p:sp>
      <p:sp>
        <p:nvSpPr>
          <p:cNvPr id="12" name="packed-s1-text">
            <a:extLst xmlns:a="http://schemas.openxmlformats.org/drawingml/2006/main">
              <a:ext uri="{FF2B5EF4-FFF2-40B4-BE49-F238E27FC236}">
                <a16:creationId xmlns:a16="http://schemas.microsoft.com/office/drawing/2014/main" id="{367C00A5-6E5E-4E2F-AF95-42BD8A74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Suffix S₁</a:t>
            </a:r>
          </a:p>
        </p:txBody>
      </p:sp>
      <p:sp>
        <p:nvSpPr>
          <p:cNvPr id="13" name="packed-s2-text">
            <a:extLst xmlns:a="http://schemas.openxmlformats.org/drawingml/2006/main">
              <a:ext uri="{FF2B5EF4-FFF2-40B4-BE49-F238E27FC236}">
                <a16:creationId xmlns:a16="http://schemas.microsoft.com/office/drawing/2014/main" id="{BAE13AE7-A273-4127-8265-E6E16EFF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Suffix S₂</a:t>
            </a:r>
          </a:p>
        </p:txBody>
      </p:sp>
      <p:sp>
        <p:nvSpPr>
          <p:cNvPr id="14" name="bad-attn-bg">
            <a:extLst xmlns:a="http://schemas.openxmlformats.org/drawingml/2006/main">
              <a:ext uri="{FF2B5EF4-FFF2-40B4-BE49-F238E27FC236}">
                <a16:creationId xmlns:a16="http://schemas.microsoft.com/office/drawing/2014/main" id="{AAF6D759-007A-455E-9FE3-6AF16850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4953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14343"/>
            </a:solidFill>
            <a:prstDash val="solid"/>
          </a:ln>
        </p:spPr>
      </p:sp>
      <p:sp>
        <p:nvSpPr>
          <p:cNvPr id="15" name="bad-attn-title">
            <a:extLst xmlns:a="http://schemas.openxmlformats.org/drawingml/2006/main">
              <a:ext uri="{FF2B5EF4-FFF2-40B4-BE49-F238E27FC236}">
                <a16:creationId xmlns:a16="http://schemas.microsoft.com/office/drawing/2014/main" id="{B1C40F10-36D4-4BC5-9C5C-E74C4891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432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4343"/>
                </a:solidFill>
                <a:latin typeface="Noto Sans SC"/>
                <a:ea typeface="Noto Sans SC"/>
                <a:cs typeface="Noto Sans SC"/>
              </a:defRPr>
            </a:pPr>
            <a:r>
              <a:t>标准 causal attention · 错误</a:t>
            </a:r>
          </a:p>
        </p:txBody>
      </p:sp>
      <p:sp>
        <p:nvSpPr>
          <p:cNvPr id="16" name="bad-q1">
            <a:extLst xmlns:a="http://schemas.openxmlformats.org/drawingml/2006/main">
              <a:ext uri="{FF2B5EF4-FFF2-40B4-BE49-F238E27FC236}">
                <a16:creationId xmlns:a16="http://schemas.microsoft.com/office/drawing/2014/main" id="{661B6ADF-C0D0-44BD-9015-7D012A2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352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4343"/>
            </a:solidFill>
            <a:prstDash val="solid"/>
          </a:ln>
        </p:spPr>
      </p:sp>
      <p:sp>
        <p:nvSpPr>
          <p:cNvPr id="17" name="bad-q1-text">
            <a:extLst xmlns:a="http://schemas.openxmlformats.org/drawingml/2006/main">
              <a:ext uri="{FF2B5EF4-FFF2-40B4-BE49-F238E27FC236}">
                <a16:creationId xmlns:a16="http://schemas.microsoft.com/office/drawing/2014/main" id="{CB6466BF-C706-4E28-A04D-E209D6B9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108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Query Q₁</a:t>
            </a:r>
          </a:p>
        </p:txBody>
      </p:sp>
      <p:sp>
        <p:nvSpPr>
          <p:cNvPr id="18" name="bad-visible">
            <a:extLst xmlns:a="http://schemas.openxmlformats.org/drawingml/2006/main">
              <a:ext uri="{FF2B5EF4-FFF2-40B4-BE49-F238E27FC236}">
                <a16:creationId xmlns:a16="http://schemas.microsoft.com/office/drawing/2014/main" id="{12DBD910-396F-43CF-B3C9-9C71BFE4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20764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4343"/>
            </a:solidFill>
            <a:prstDash val="solid"/>
          </a:ln>
        </p:spPr>
      </p:sp>
      <p:sp>
        <p:nvSpPr>
          <p:cNvPr id="19" name="bad-visible-text">
            <a:extLst xmlns:a="http://schemas.openxmlformats.org/drawingml/2006/main">
              <a:ext uri="{FF2B5EF4-FFF2-40B4-BE49-F238E27FC236}">
                <a16:creationId xmlns:a16="http://schemas.microsoft.com/office/drawing/2014/main" id="{DE810899-5E8B-4394-8D10-259BA126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1771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可见：P + S₀ + S₁</a:t>
            </a:r>
          </a:p>
        </p:txBody>
      </p:sp>
      <p:sp>
        <p:nvSpPr>
          <p:cNvPr id="20" name="bad-attn-desc">
            <a:extLst xmlns:a="http://schemas.openxmlformats.org/drawingml/2006/main">
              <a:ext uri="{FF2B5EF4-FFF2-40B4-BE49-F238E27FC236}">
                <a16:creationId xmlns:a16="http://schemas.microsoft.com/office/drawing/2014/main" id="{2DC3DCF9-211F-4D3A-AEC9-3017D3F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324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14343"/>
                </a:solidFill>
                <a:latin typeface="Noto Sans SC"/>
                <a:ea typeface="Noto Sans SC"/>
                <a:cs typeface="Noto Sans SC"/>
              </a:defRPr>
            </a:pPr>
            <a:r>
              <a:t>S₁ 因为排在 S₀ 后面，会吸收另一条 beam 的历史。</a:t>
            </a:r>
          </a:p>
        </p:txBody>
      </p:sp>
      <p:sp>
        <p:nvSpPr>
          <p:cNvPr id="21" name="good-attn-bg">
            <a:extLst xmlns:a="http://schemas.openxmlformats.org/drawingml/2006/main">
              <a:ext uri="{FF2B5EF4-FFF2-40B4-BE49-F238E27FC236}">
                <a16:creationId xmlns:a16="http://schemas.microsoft.com/office/drawing/2014/main" id="{0F7E3E4F-0AF9-4378-BEB2-C5ED4B0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58483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25855A"/>
            </a:solidFill>
            <a:prstDash val="solid"/>
          </a:ln>
        </p:spPr>
      </p:sp>
      <p:sp>
        <p:nvSpPr>
          <p:cNvPr id="22" name="good-attn-title">
            <a:extLst xmlns:a="http://schemas.openxmlformats.org/drawingml/2006/main">
              <a:ext uri="{FF2B5EF4-FFF2-40B4-BE49-F238E27FC236}">
                <a16:creationId xmlns:a16="http://schemas.microsoft.com/office/drawing/2014/main" id="{FD369498-7952-4F1F-BC64-268F4A48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520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855A"/>
                </a:solidFill>
                <a:latin typeface="Noto Sans SC"/>
                <a:ea typeface="Noto Sans SC"/>
                <a:cs typeface="Noto Sans SC"/>
              </a:defRPr>
            </a:pPr>
            <a:r>
              <a:t>Beam 语义 · 正确</a:t>
            </a:r>
          </a:p>
        </p:txBody>
      </p:sp>
      <p:sp>
        <p:nvSpPr>
          <p:cNvPr id="23" name="good-q1">
            <a:extLst xmlns:a="http://schemas.openxmlformats.org/drawingml/2006/main">
              <a:ext uri="{FF2B5EF4-FFF2-40B4-BE49-F238E27FC236}">
                <a16:creationId xmlns:a16="http://schemas.microsoft.com/office/drawing/2014/main" id="{FAA349C8-E823-4DC0-80A9-B494393D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95700"/>
            <a:ext cx="106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855A"/>
            </a:solidFill>
            <a:prstDash val="solid"/>
          </a:ln>
        </p:spPr>
      </p:sp>
      <p:sp>
        <p:nvSpPr>
          <p:cNvPr id="24" name="good-q1-text">
            <a:extLst xmlns:a="http://schemas.openxmlformats.org/drawingml/2006/main">
              <a:ext uri="{FF2B5EF4-FFF2-40B4-BE49-F238E27FC236}">
                <a16:creationId xmlns:a16="http://schemas.microsoft.com/office/drawing/2014/main" id="{0732B8C0-3471-4F3E-B6CC-232F7069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80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Q₁</a:t>
            </a:r>
          </a:p>
        </p:txBody>
      </p:sp>
      <p:sp>
        <p:nvSpPr>
          <p:cNvPr id="25" name="good-visible1">
            <a:extLst xmlns:a="http://schemas.openxmlformats.org/drawingml/2006/main">
              <a:ext uri="{FF2B5EF4-FFF2-40B4-BE49-F238E27FC236}">
                <a16:creationId xmlns:a16="http://schemas.microsoft.com/office/drawing/2014/main" id="{0EF05979-9929-492C-A275-7AB8B9A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15621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855A"/>
            </a:solidFill>
            <a:prstDash val="solid"/>
          </a:ln>
        </p:spPr>
      </p:sp>
      <p:sp>
        <p:nvSpPr>
          <p:cNvPr id="26" name="good-visible1-text">
            <a:extLst xmlns:a="http://schemas.openxmlformats.org/drawingml/2006/main">
              <a:ext uri="{FF2B5EF4-FFF2-40B4-BE49-F238E27FC236}">
                <a16:creationId xmlns:a16="http://schemas.microsoft.com/office/drawing/2014/main" id="{46377F18-ECA8-455A-AE8D-3CB2440F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P + S₁</a:t>
            </a:r>
          </a:p>
        </p:txBody>
      </p:sp>
      <p:sp>
        <p:nvSpPr>
          <p:cNvPr id="27" name="good-q2">
            <a:extLst xmlns:a="http://schemas.openxmlformats.org/drawingml/2006/main">
              <a:ext uri="{FF2B5EF4-FFF2-40B4-BE49-F238E27FC236}">
                <a16:creationId xmlns:a16="http://schemas.microsoft.com/office/drawing/2014/main" id="{30494352-DEE3-491F-83CF-C62C83EF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95700"/>
            <a:ext cx="1371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855A"/>
            </a:solidFill>
            <a:prstDash val="solid"/>
          </a:ln>
        </p:spPr>
      </p:sp>
      <p:sp>
        <p:nvSpPr>
          <p:cNvPr id="28" name="good-q2-text">
            <a:extLst xmlns:a="http://schemas.openxmlformats.org/drawingml/2006/main">
              <a:ext uri="{FF2B5EF4-FFF2-40B4-BE49-F238E27FC236}">
                <a16:creationId xmlns:a16="http://schemas.microsoft.com/office/drawing/2014/main" id="{CD0A2695-FF48-4AAF-996B-5470CD34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481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Q₂ → P + S₂</a:t>
            </a:r>
          </a:p>
        </p:txBody>
      </p:sp>
      <p:sp>
        <p:nvSpPr>
          <p:cNvPr id="29" name="good-attn-desc">
            <a:extLst xmlns:a="http://schemas.openxmlformats.org/drawingml/2006/main">
              <a:ext uri="{FF2B5EF4-FFF2-40B4-BE49-F238E27FC236}">
                <a16:creationId xmlns:a16="http://schemas.microsoft.com/office/drawing/2014/main" id="{3A23C74F-262B-4F8B-B699-10454B9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14850"/>
            <a:ext cx="5200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855A"/>
                </a:solidFill>
                <a:latin typeface="Noto Sans SC"/>
                <a:ea typeface="Noto Sans SC"/>
                <a:cs typeface="Noto Sans SC"/>
              </a:defRPr>
            </a:pPr>
            <a:r>
              <a:t>不变量：Qᵦ 只能看到 [P, Sᵦ]；其它 suffix 必须物理或逻辑隔离。</a:t>
            </a:r>
          </a:p>
        </p:txBody>
      </p:sp>
      <p:sp>
        <p:nvSpPr>
          <p:cNvPr id="30" name="packing-takeaway-bg">
            <a:extLst xmlns:a="http://schemas.openxmlformats.org/drawingml/2006/main">
              <a:ext uri="{FF2B5EF4-FFF2-40B4-BE49-F238E27FC236}">
                <a16:creationId xmlns:a16="http://schemas.microsoft.com/office/drawing/2014/main" id="{2FFFDCB7-3FBE-4976-8AA6-59C85608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114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1" name="packing-takeaway">
            <a:extLst xmlns:a="http://schemas.openxmlformats.org/drawingml/2006/main">
              <a:ext uri="{FF2B5EF4-FFF2-40B4-BE49-F238E27FC236}">
                <a16:creationId xmlns:a16="http://schemas.microsoft.com/office/drawing/2014/main" id="{CA9D35FD-419B-4975-9B4C-354B221D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87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因此 BeamAttention 不是“搜索算子”；它修复的是 packed Request 的 Attention 语义，为后续 grouped 执行提供正确性基础。</a:t>
            </a:r>
          </a:p>
        </p:txBody>
      </p:sp>
      <p:sp>
        <p:nvSpPr>
          <p:cNvPr id="32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30FF89E8-FD38-4B87-9AE3-93B20857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数学语义：对每条 beam，Attention(Qᵦ, [P, Sᵦ])</a:t>
            </a:r>
          </a:p>
        </p:txBody>
      </p:sp>
      <p:sp>
        <p:nvSpPr>
          <p:cNvPr id="3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7905B9C2-0A47-471E-ACBA-D0595673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1018845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891D36F0-0C0E-41B3-8ED0-D637C4A0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GR 解法：共享 Prefix，重算并隔离 Suffix</a:t>
            </a:r>
          </a:p>
        </p:txBody>
      </p:sp>
      <p:cxnSp>
        <p:nvCxnSpPr>
          <p:cNvPr id="28" name="slide-6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9" name="solution-arrow-1"/>
          <p:cNvCxnSpPr/>
          <p:nvPr/>
        </p:nvCxnSpPr>
        <p:spPr>
          <a:xfrm xmlns:a="http://schemas.openxmlformats.org/drawingml/2006/main">
            <a:off x="3067050" y="3390900"/>
            <a:ext cx="6858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0" name="solution-arrow-2"/>
          <p:cNvCxnSpPr/>
          <p:nvPr/>
        </p:nvCxnSpPr>
        <p:spPr>
          <a:xfrm xmlns:a="http://schemas.openxmlformats.org/drawingml/2006/main">
            <a:off x="7029450" y="3390900"/>
            <a:ext cx="6858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5" name="solution-group-bg">
            <a:extLst xmlns:a="http://schemas.openxmlformats.org/drawingml/2006/main">
              <a:ext uri="{FF2B5EF4-FFF2-40B4-BE49-F238E27FC236}">
                <a16:creationId xmlns:a16="http://schemas.microsoft.com/office/drawing/2014/main" id="{B04CC35A-997F-49D3-8586-A3E73A6C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2552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lution-runner-bg">
            <a:extLst xmlns:a="http://schemas.openxmlformats.org/drawingml/2006/main">
              <a:ext uri="{FF2B5EF4-FFF2-40B4-BE49-F238E27FC236}">
                <a16:creationId xmlns:a16="http://schemas.microsoft.com/office/drawing/2014/main" id="{0224125D-F1B5-42B5-B2D5-7EC537AE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38300"/>
            <a:ext cx="3276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lution-attn-bg">
            <a:extLst xmlns:a="http://schemas.openxmlformats.org/drawingml/2006/main">
              <a:ext uri="{FF2B5EF4-FFF2-40B4-BE49-F238E27FC236}">
                <a16:creationId xmlns:a16="http://schemas.microsoft.com/office/drawing/2014/main" id="{8AFD9C0B-DE9E-4551-A320-29719377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38300"/>
            <a:ext cx="3943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lution-group-title">
            <a:extLst xmlns:a="http://schemas.openxmlformats.org/drawingml/2006/main">
              <a:ext uri="{FF2B5EF4-FFF2-40B4-BE49-F238E27FC236}">
                <a16:creationId xmlns:a16="http://schemas.microsoft.com/office/drawing/2014/main" id="{0FAA2AFA-D6B6-48E6-BCF8-3F1BA1CF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① 一个逻辑 Request</a:t>
            </a:r>
          </a:p>
        </p:txBody>
      </p:sp>
      <p:sp>
        <p:nvSpPr>
          <p:cNvPr id="9" name="solution-group-formula">
            <a:extLst xmlns:a="http://schemas.openxmlformats.org/drawingml/2006/main">
              <a:ext uri="{FF2B5EF4-FFF2-40B4-BE49-F238E27FC236}">
                <a16:creationId xmlns:a16="http://schemas.microsoft.com/office/drawing/2014/main" id="{D6D61DA5-A065-4384-8C3A-92C9E9B0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09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P ∥ S₀ ∥ S₁ ∥ … ∥ Sᵂ⁻¹</a:t>
            </a:r>
          </a:p>
        </p:txBody>
      </p:sp>
      <p:sp>
        <p:nvSpPr>
          <p:cNvPr id="10" name="solution-group-desc">
            <a:extLst xmlns:a="http://schemas.openxmlformats.org/drawingml/2006/main">
              <a:ext uri="{FF2B5EF4-FFF2-40B4-BE49-F238E27FC236}">
                <a16:creationId xmlns:a16="http://schemas.microsoft.com/office/drawing/2014/main" id="{D80B351B-6B82-4A84-9AF0-E8EDC03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Prompt KV 只保存一份；
每轮提交所有 beam 的完整 suffix。</a:t>
            </a:r>
          </a:p>
        </p:txBody>
      </p:sp>
      <p:sp>
        <p:nvSpPr>
          <p:cNvPr id="11" name="solution-runner-title">
            <a:extLst xmlns:a="http://schemas.openxmlformats.org/drawingml/2006/main">
              <a:ext uri="{FF2B5EF4-FFF2-40B4-BE49-F238E27FC236}">
                <a16:creationId xmlns:a16="http://schemas.microsoft.com/office/drawing/2014/main" id="{7C2E0E40-D753-42F5-A368-B2699984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2819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② Runner 展开 W 行</a:t>
            </a:r>
          </a:p>
        </p:txBody>
      </p:sp>
      <p:sp>
        <p:nvSpPr>
          <p:cNvPr id="12" name="solution-row0">
            <a:extLst xmlns:a="http://schemas.openxmlformats.org/drawingml/2006/main">
              <a:ext uri="{FF2B5EF4-FFF2-40B4-BE49-F238E27FC236}">
                <a16:creationId xmlns:a16="http://schemas.microsoft.com/office/drawing/2014/main" id="{C1FF57C5-39E9-493D-AF9D-33BA1CC1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olution-row1">
            <a:extLst xmlns:a="http://schemas.openxmlformats.org/drawingml/2006/main">
              <a:ext uri="{FF2B5EF4-FFF2-40B4-BE49-F238E27FC236}">
                <a16:creationId xmlns:a16="http://schemas.microsoft.com/office/drawing/2014/main" id="{8A94F77F-351A-479F-81BF-A789DE0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051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solution-roww">
            <a:extLst xmlns:a="http://schemas.openxmlformats.org/drawingml/2006/main">
              <a:ext uri="{FF2B5EF4-FFF2-40B4-BE49-F238E27FC236}">
                <a16:creationId xmlns:a16="http://schemas.microsoft.com/office/drawing/2014/main" id="{615B4B9A-B1E6-46AB-99E2-9DB11D40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solution-row0-text">
            <a:extLst xmlns:a="http://schemas.openxmlformats.org/drawingml/2006/main">
              <a:ext uri="{FF2B5EF4-FFF2-40B4-BE49-F238E27FC236}">
                <a16:creationId xmlns:a16="http://schemas.microsoft.com/office/drawing/2014/main" id="{B5D05708-BD74-45EF-9086-EF65923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9850"/>
            <a:ext cx="2076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beam 0 query / logits</a:t>
            </a:r>
          </a:p>
        </p:txBody>
      </p:sp>
      <p:sp>
        <p:nvSpPr>
          <p:cNvPr id="16" name="solution-row1-text">
            <a:extLst xmlns:a="http://schemas.openxmlformats.org/drawingml/2006/main">
              <a:ext uri="{FF2B5EF4-FFF2-40B4-BE49-F238E27FC236}">
                <a16:creationId xmlns:a16="http://schemas.microsoft.com/office/drawing/2014/main" id="{5A8841C9-607D-439F-BE0F-681BE74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2076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beam 1 query / logits</a:t>
            </a:r>
          </a:p>
        </p:txBody>
      </p:sp>
      <p:sp>
        <p:nvSpPr>
          <p:cNvPr id="17" name="solution-roww-text">
            <a:extLst xmlns:a="http://schemas.openxmlformats.org/drawingml/2006/main">
              <a:ext uri="{FF2B5EF4-FFF2-40B4-BE49-F238E27FC236}">
                <a16:creationId xmlns:a16="http://schemas.microsoft.com/office/drawing/2014/main" id="{2BA9681A-8FE3-477B-B7DD-48F76DE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076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… beam W−1</a:t>
            </a:r>
          </a:p>
        </p:txBody>
      </p:sp>
      <p:sp>
        <p:nvSpPr>
          <p:cNvPr id="18" name="solution-attn-title">
            <a:extLst xmlns:a="http://schemas.openxmlformats.org/drawingml/2006/main">
              <a:ext uri="{FF2B5EF4-FFF2-40B4-BE49-F238E27FC236}">
                <a16:creationId xmlns:a16="http://schemas.microsoft.com/office/drawing/2014/main" id="{50422643-D995-4DD8-A16C-08EAF961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3486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③ BeamAttention 恢复语义</a:t>
            </a:r>
          </a:p>
        </p:txBody>
      </p:sp>
      <p:sp>
        <p:nvSpPr>
          <p:cNvPr id="19" name="solution-prefix-path">
            <a:extLst xmlns:a="http://schemas.openxmlformats.org/drawingml/2006/main">
              <a:ext uri="{FF2B5EF4-FFF2-40B4-BE49-F238E27FC236}">
                <a16:creationId xmlns:a16="http://schemas.microsoft.com/office/drawing/2014/main" id="{54B56915-AA6C-4934-9A24-FC85FAA8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Qᵦ → P</a:t>
            </a:r>
          </a:p>
        </p:txBody>
      </p:sp>
      <p:sp>
        <p:nvSpPr>
          <p:cNvPr id="20" name="solution-plus">
            <a:extLst xmlns:a="http://schemas.openxmlformats.org/drawingml/2006/main">
              <a:ext uri="{FF2B5EF4-FFF2-40B4-BE49-F238E27FC236}">
                <a16:creationId xmlns:a16="http://schemas.microsoft.com/office/drawing/2014/main" id="{E810E0C5-E3A8-47AA-B417-95C90626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+</a:t>
            </a:r>
          </a:p>
        </p:txBody>
      </p:sp>
      <p:sp>
        <p:nvSpPr>
          <p:cNvPr id="21" name="solution-suffix-path">
            <a:extLst xmlns:a="http://schemas.openxmlformats.org/drawingml/2006/main">
              <a:ext uri="{FF2B5EF4-FFF2-40B4-BE49-F238E27FC236}">
                <a16:creationId xmlns:a16="http://schemas.microsoft.com/office/drawing/2014/main" id="{7C944D96-F488-410E-B774-C0A9B1C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479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Qᵦ → Sᵦ</a:t>
            </a:r>
          </a:p>
        </p:txBody>
      </p:sp>
      <p:sp>
        <p:nvSpPr>
          <p:cNvPr id="22" name="solution-attn-desc">
            <a:extLst xmlns:a="http://schemas.openxmlformats.org/drawingml/2006/main">
              <a:ext uri="{FF2B5EF4-FFF2-40B4-BE49-F238E27FC236}">
                <a16:creationId xmlns:a16="http://schemas.microsoft.com/office/drawing/2014/main" id="{D3A8F6C2-55AF-4BD4-8351-2796627B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39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Prefix FA + Suffix FA
→ LSE 精确合并</a:t>
            </a:r>
          </a:p>
        </p:txBody>
      </p:sp>
      <p:sp>
        <p:nvSpPr>
          <p:cNvPr id="23" name="solution-bottom">
            <a:extLst xmlns:a="http://schemas.openxmlformats.org/drawingml/2006/main">
              <a:ext uri="{FF2B5EF4-FFF2-40B4-BE49-F238E27FC236}">
                <a16:creationId xmlns:a16="http://schemas.microsoft.com/office/drawing/2014/main" id="{DA97983E-577C-4344-AD63-F6D187B2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114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lution-bottom-text">
            <a:extLst xmlns:a="http://schemas.openxmlformats.org/drawingml/2006/main">
              <a:ext uri="{FF2B5EF4-FFF2-40B4-BE49-F238E27FC236}">
                <a16:creationId xmlns:a16="http://schemas.microsoft.com/office/drawing/2014/main" id="{0135654F-6D63-4E4A-BD96-4F5D41D1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87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它避免了复杂的 KV fork/COW，但没有持久化每条 beam 的 suffix KV；全局 Top-W 也仍在 Host。后文所有性能与正确性边界都由这项取舍推导。</a:t>
            </a:r>
          </a:p>
        </p:txBody>
      </p:sp>
      <p:sp>
        <p:nvSpPr>
          <p:cNvPr id="25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9883A63C-C8B4-4AE0-96B9-E2B1D191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代码：v1/engine/core.py:70–203 · engine_core_patch.py:688–1032 · beam_attn.py:879–1196</a:t>
            </a:r>
          </a:p>
        </p:txBody>
      </p:sp>
      <p:sp>
        <p:nvSpPr>
          <p:cNvPr id="26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10DF4F7B-5EF3-4783-BB27-33B04D4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6</a:t>
            </a:r>
          </a:p>
        </p:txBody>
      </p:sp>
    </p:spTree>
    <p:extLst>
      <p:ext uri="{BB962C8B-B14F-4D97-AF65-F5344CB8AC3E}">
        <p14:creationId xmlns:p14="http://schemas.microsoft.com/office/powerpoint/2010/main" val="1212062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E80F986-1A95-43F5-8F30-361E3896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单步闭环：Host 选父子，GPU 跑 grouped forward</a:t>
            </a:r>
          </a:p>
        </p:txBody>
      </p:sp>
      <p:cxnSp>
        <p:nvCxnSpPr>
          <p:cNvPr id="30" name="slide-7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host-lane">
            <a:extLst xmlns:a="http://schemas.openxmlformats.org/drawingml/2006/main">
              <a:ext uri="{FF2B5EF4-FFF2-40B4-BE49-F238E27FC236}">
                <a16:creationId xmlns:a16="http://schemas.microsoft.com/office/drawing/2014/main" id="{F2C74735-5634-438D-B13E-1CFFC6EA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ngine-lane">
            <a:extLst xmlns:a="http://schemas.openxmlformats.org/drawingml/2006/main">
              <a:ext uri="{FF2B5EF4-FFF2-40B4-BE49-F238E27FC236}">
                <a16:creationId xmlns:a16="http://schemas.microsoft.com/office/drawing/2014/main" id="{52418791-2148-4731-A16B-DD9DD63E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1391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pu-lane">
            <a:extLst xmlns:a="http://schemas.openxmlformats.org/drawingml/2006/main">
              <a:ext uri="{FF2B5EF4-FFF2-40B4-BE49-F238E27FC236}">
                <a16:creationId xmlns:a16="http://schemas.microsoft.com/office/drawing/2014/main" id="{997C33C7-D980-4A4B-ACAA-4C80C5AD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391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ost-lane-label">
            <a:extLst xmlns:a="http://schemas.openxmlformats.org/drawingml/2006/main">
              <a:ext uri="{FF2B5EF4-FFF2-40B4-BE49-F238E27FC236}">
                <a16:creationId xmlns:a16="http://schemas.microsoft.com/office/drawing/2014/main" id="{C30F2EA5-D78A-4F3E-BD29-4DB9F28E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HOST / Python</a:t>
            </a:r>
          </a:p>
        </p:txBody>
      </p:sp>
      <p:sp>
        <p:nvSpPr>
          <p:cNvPr id="7" name="engine-lane-label">
            <a:extLst xmlns:a="http://schemas.openxmlformats.org/drawingml/2006/main">
              <a:ext uri="{FF2B5EF4-FFF2-40B4-BE49-F238E27FC236}">
                <a16:creationId xmlns:a16="http://schemas.microsoft.com/office/drawing/2014/main" id="{568DD58E-7892-41E7-A074-2BE8B820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ENGINE</a:t>
            </a:r>
          </a:p>
        </p:txBody>
      </p:sp>
      <p:sp>
        <p:nvSpPr>
          <p:cNvPr id="8" name="gpu-lane-label">
            <a:extLst xmlns:a="http://schemas.openxmlformats.org/drawingml/2006/main">
              <a:ext uri="{FF2B5EF4-FFF2-40B4-BE49-F238E27FC236}">
                <a16:creationId xmlns:a16="http://schemas.microsoft.com/office/drawing/2014/main" id="{796F215E-ACA5-4106-8957-F9998421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20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GPU</a:t>
            </a:r>
          </a:p>
        </p:txBody>
      </p:sp>
      <p:cxnSp>
        <p:nvCxnSpPr>
          <p:cNvPr id="37" name="flow-1-2"/>
          <p:cNvCxnSpPr/>
          <p:nvPr/>
        </p:nvCxnSpPr>
        <p:spPr>
          <a:xfrm xmlns:a="http://schemas.openxmlformats.org/drawingml/2006/main">
            <a:off x="2333625" y="2209800"/>
            <a:ext cx="114300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8" name="flow-2-3"/>
          <p:cNvCxnSpPr/>
          <p:nvPr/>
        </p:nvCxnSpPr>
        <p:spPr>
          <a:xfrm xmlns:a="http://schemas.openxmlformats.org/drawingml/2006/main">
            <a:off x="4095750" y="3505200"/>
            <a:ext cx="1047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9" name="flow-3-4"/>
          <p:cNvCxnSpPr/>
          <p:nvPr/>
        </p:nvCxnSpPr>
        <p:spPr>
          <a:xfrm xmlns:a="http://schemas.openxmlformats.org/drawingml/2006/main">
            <a:off x="5753100" y="3505200"/>
            <a:ext cx="106680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0" name="flow-4-5"/>
          <p:cNvCxnSpPr/>
          <p:nvPr/>
        </p:nvCxnSpPr>
        <p:spPr>
          <a:xfrm xmlns:a="http://schemas.openxmlformats.org/drawingml/2006/main">
            <a:off x="7524750" y="3514725"/>
            <a:ext cx="106680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1" name="flow-5-6"/>
          <p:cNvCxnSpPr/>
          <p:nvPr/>
        </p:nvCxnSpPr>
        <p:spPr>
          <a:xfrm xmlns:a="http://schemas.openxmlformats.org/drawingml/2006/main">
            <a:off x="9296400" y="2219325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4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C8348B3-0C7D-44BD-9F13-666334B3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flow-node-2">
            <a:extLst xmlns:a="http://schemas.openxmlformats.org/drawingml/2006/main">
              <a:ext uri="{FF2B5EF4-FFF2-40B4-BE49-F238E27FC236}">
                <a16:creationId xmlns:a16="http://schemas.microsoft.com/office/drawing/2014/main" id="{08CDFFEF-DADC-4123-9646-3045821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813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flow-node-3">
            <a:extLst xmlns:a="http://schemas.openxmlformats.org/drawingml/2006/main">
              <a:ext uri="{FF2B5EF4-FFF2-40B4-BE49-F238E27FC236}">
                <a16:creationId xmlns:a16="http://schemas.microsoft.com/office/drawing/2014/main" id="{7ED73977-54A1-48ED-A774-6835A94E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flow-node-4">
            <a:extLst xmlns:a="http://schemas.openxmlformats.org/drawingml/2006/main">
              <a:ext uri="{FF2B5EF4-FFF2-40B4-BE49-F238E27FC236}">
                <a16:creationId xmlns:a16="http://schemas.microsoft.com/office/drawing/2014/main" id="{B20F66EA-CB9B-4EAF-8B9A-9445740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767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flow-node-5">
            <a:extLst xmlns:a="http://schemas.openxmlformats.org/drawingml/2006/main">
              <a:ext uri="{FF2B5EF4-FFF2-40B4-BE49-F238E27FC236}">
                <a16:creationId xmlns:a16="http://schemas.microsoft.com/office/drawing/2014/main" id="{4DEC56E0-97DA-4AB5-A884-C55BF063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813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flow-node-6">
            <a:extLst xmlns:a="http://schemas.openxmlformats.org/drawingml/2006/main">
              <a:ext uri="{FF2B5EF4-FFF2-40B4-BE49-F238E27FC236}">
                <a16:creationId xmlns:a16="http://schemas.microsoft.com/office/drawing/2014/main" id="{B6A3F220-E6CF-4BA3-B057-23A3DFA2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85950"/>
            <a:ext cx="1200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flow-text-1">
            <a:extLst xmlns:a="http://schemas.openxmlformats.org/drawingml/2006/main">
              <a:ext uri="{FF2B5EF4-FFF2-40B4-BE49-F238E27FC236}">
                <a16:creationId xmlns:a16="http://schemas.microsoft.com/office/drawing/2014/main" id="{2396F3E6-33D5-4FD8-8561-D7E55F14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81200"/>
            <a:ext cx="1390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① 构造
BeamRequest
StepUpdate</a:t>
            </a:r>
          </a:p>
        </p:txBody>
      </p:sp>
      <p:sp>
        <p:nvSpPr>
          <p:cNvPr id="21" name="flow-text-2">
            <a:extLst xmlns:a="http://schemas.openxmlformats.org/drawingml/2006/main">
              <a:ext uri="{FF2B5EF4-FFF2-40B4-BE49-F238E27FC236}">
                <a16:creationId xmlns:a16="http://schemas.microsoft.com/office/drawing/2014/main" id="{350230DC-2F1E-4F5B-B4B3-49498CE8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1390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② Pack 单请求
P ∥ S₀…Sᵂ⁻¹</a:t>
            </a:r>
          </a:p>
        </p:txBody>
      </p:sp>
      <p:sp>
        <p:nvSpPr>
          <p:cNvPr id="22" name="flow-text-3">
            <a:extLst xmlns:a="http://schemas.openxmlformats.org/drawingml/2006/main">
              <a:ext uri="{FF2B5EF4-FFF2-40B4-BE49-F238E27FC236}">
                <a16:creationId xmlns:a16="http://schemas.microsoft.com/office/drawing/2014/main" id="{FF0536AE-1547-4B85-99D7-D33AC8CF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33750"/>
            <a:ext cx="1390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③ Schedule +
行 / 位置重映射</a:t>
            </a:r>
          </a:p>
        </p:txBody>
      </p:sp>
      <p:sp>
        <p:nvSpPr>
          <p:cNvPr id="23" name="flow-text-4">
            <a:extLst xmlns:a="http://schemas.openxmlformats.org/drawingml/2006/main">
              <a:ext uri="{FF2B5EF4-FFF2-40B4-BE49-F238E27FC236}">
                <a16:creationId xmlns:a16="http://schemas.microsoft.com/office/drawing/2014/main" id="{B5C5066F-DE43-4B2A-84E9-2A5974AC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1390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④ Model +
Cascade Attention</a:t>
            </a:r>
          </a:p>
        </p:txBody>
      </p:sp>
      <p:sp>
        <p:nvSpPr>
          <p:cNvPr id="24" name="flow-text-5">
            <a:extLst xmlns:a="http://schemas.openxmlformats.org/drawingml/2006/main">
              <a:ext uri="{FF2B5EF4-FFF2-40B4-BE49-F238E27FC236}">
                <a16:creationId xmlns:a16="http://schemas.microsoft.com/office/drawing/2014/main" id="{179EFD16-C0E8-46F9-95E3-2BF90EFD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1390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⑤ W×K logits
折叠到 session</a:t>
            </a:r>
          </a:p>
        </p:txBody>
      </p:sp>
      <p:sp>
        <p:nvSpPr>
          <p:cNvPr id="25" name="flow-text-6">
            <a:extLst xmlns:a="http://schemas.openxmlformats.org/drawingml/2006/main">
              <a:ext uri="{FF2B5EF4-FFF2-40B4-BE49-F238E27FC236}">
                <a16:creationId xmlns:a16="http://schemas.microsoft.com/office/drawing/2014/main" id="{412678E9-9784-4840-9C7C-4CBA702A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76450"/>
            <a:ext cx="971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⑥ NumPy
Top-W</a:t>
            </a:r>
          </a:p>
        </p:txBody>
      </p:sp>
      <p:sp>
        <p:nvSpPr>
          <p:cNvPr id="26" name="flow-takeaway">
            <a:extLst xmlns:a="http://schemas.openxmlformats.org/drawingml/2006/main">
              <a:ext uri="{FF2B5EF4-FFF2-40B4-BE49-F238E27FC236}">
                <a16:creationId xmlns:a16="http://schemas.microsoft.com/office/drawing/2014/main" id="{50AB85C5-1286-4919-9F36-E4E0BFAA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86450"/>
            <a:ext cx="10058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每一步都存在 Host ↔ Engine ↔ GPU 的同步闭环；未来分支未知，因此不能一次跑完多步 exact beam。</a:t>
            </a:r>
          </a:p>
        </p:txBody>
      </p:sp>
      <p:sp>
        <p:nvSpPr>
          <p:cNvPr id="27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74891595-9C7F-4089-B222-7891A9FF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代码：serving_engine.py:357–611 · engine_core_patch.py:933–1032</a:t>
            </a:r>
          </a:p>
        </p:txBody>
      </p:sp>
      <p:sp>
        <p:nvSpPr>
          <p:cNvPr id="28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45CAA1FA-AEE5-4819-957F-5CE54679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7</a:t>
            </a:r>
          </a:p>
        </p:txBody>
      </p:sp>
    </p:spTree>
    <p:extLst>
      <p:ext uri="{BB962C8B-B14F-4D97-AF65-F5344CB8AC3E}">
        <p14:creationId xmlns:p14="http://schemas.microsoft.com/office/powerpoint/2010/main" val="399627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B521BE40-EF95-4C35-88C9-20B195F9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Catalog 并行查询，但过滤发生在 Top-K 之后</a:t>
            </a:r>
          </a:p>
        </p:txBody>
      </p:sp>
      <p:cxnSp>
        <p:nvCxnSpPr>
          <p:cNvPr id="44" name="slide-8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catalog-startup-title">
            <a:extLst xmlns:a="http://schemas.openxmlformats.org/drawingml/2006/main">
              <a:ext uri="{FF2B5EF4-FFF2-40B4-BE49-F238E27FC236}">
                <a16:creationId xmlns:a16="http://schemas.microsoft.com/office/drawing/2014/main" id="{098E5E2B-3D49-4CD5-8F96-D384A6AB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启动阶段 · 一次性构建</a:t>
            </a:r>
          </a:p>
        </p:txBody>
      </p:sp>
      <p:cxnSp>
        <p:nvCxnSpPr>
          <p:cNvPr id="46" name="catalog-load-arrow-1"/>
          <p:cNvCxnSpPr/>
          <p:nvPr/>
        </p:nvCxnSpPr>
        <p:spPr>
          <a:xfrm xmlns:a="http://schemas.openxmlformats.org/drawingml/2006/main">
            <a:off x="2076450" y="2476500"/>
            <a:ext cx="6096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7" name="catalog-load-arrow-2"/>
          <p:cNvCxnSpPr/>
          <p:nvPr/>
        </p:nvCxnSpPr>
        <p:spPr>
          <a:xfrm xmlns:a="http://schemas.openxmlformats.org/drawingml/2006/main">
            <a:off x="4229100" y="2476500"/>
            <a:ext cx="6096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6" name="catalog-json">
            <a:extLst xmlns:a="http://schemas.openxmlformats.org/drawingml/2006/main">
              <a:ext uri="{FF2B5EF4-FFF2-40B4-BE49-F238E27FC236}">
                <a16:creationId xmlns:a16="http://schemas.microsoft.com/office/drawing/2014/main" id="{2DE47191-B9A2-4D41-AF65-94845C2D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562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" name="catalog-tokenize">
            <a:extLst xmlns:a="http://schemas.openxmlformats.org/drawingml/2006/main">
              <a:ext uri="{FF2B5EF4-FFF2-40B4-BE49-F238E27FC236}">
                <a16:creationId xmlns:a16="http://schemas.microsoft.com/office/drawing/2014/main" id="{1C78CCBE-7589-4644-AE7E-84D7482F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81200"/>
            <a:ext cx="1543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atalog-trie">
            <a:extLst xmlns:a="http://schemas.openxmlformats.org/drawingml/2006/main">
              <a:ext uri="{FF2B5EF4-FFF2-40B4-BE49-F238E27FC236}">
                <a16:creationId xmlns:a16="http://schemas.microsoft.com/office/drawing/2014/main" id="{05D42312-08BA-4323-B450-9DE8A4A9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8120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catalog-json-title">
            <a:extLst xmlns:a="http://schemas.openxmlformats.org/drawingml/2006/main">
              <a:ext uri="{FF2B5EF4-FFF2-40B4-BE49-F238E27FC236}">
                <a16:creationId xmlns:a16="http://schemas.microsoft.com/office/drawing/2014/main" id="{9CE74FD3-60B3-4F0F-ABEF-A533BAF2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catalog.json</a:t>
            </a:r>
          </a:p>
        </p:txBody>
      </p:sp>
      <p:sp>
        <p:nvSpPr>
          <p:cNvPr id="10" name="catalog-json-body">
            <a:extLst xmlns:a="http://schemas.openxmlformats.org/drawingml/2006/main">
              <a:ext uri="{FF2B5EF4-FFF2-40B4-BE49-F238E27FC236}">
                <a16:creationId xmlns:a16="http://schemas.microsoft.com/office/drawing/2014/main" id="{FC6A02F8-1A85-4904-84D4-E1054F57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item token 序列</a:t>
            </a:r>
          </a:p>
        </p:txBody>
      </p:sp>
      <p:sp>
        <p:nvSpPr>
          <p:cNvPr id="11" name="catalog-tokenize-title">
            <a:extLst xmlns:a="http://schemas.openxmlformats.org/drawingml/2006/main">
              <a:ext uri="{FF2B5EF4-FFF2-40B4-BE49-F238E27FC236}">
                <a16:creationId xmlns:a16="http://schemas.microsoft.com/office/drawing/2014/main" id="{2F6A1368-5050-42DE-B1F2-42CD039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71700"/>
            <a:ext cx="123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Tokenizer</a:t>
            </a:r>
          </a:p>
        </p:txBody>
      </p:sp>
      <p:sp>
        <p:nvSpPr>
          <p:cNvPr id="12" name="catalog-tokenize-body">
            <a:extLst xmlns:a="http://schemas.openxmlformats.org/drawingml/2006/main">
              <a:ext uri="{FF2B5EF4-FFF2-40B4-BE49-F238E27FC236}">
                <a16:creationId xmlns:a16="http://schemas.microsoft.com/office/drawing/2014/main" id="{3CEF9B4D-832B-409D-B3AF-689B2335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5270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token → token_id</a:t>
            </a:r>
          </a:p>
        </p:txBody>
      </p:sp>
      <p:sp>
        <p:nvSpPr>
          <p:cNvPr id="13" name="catalog-trie-title">
            <a:extLst xmlns:a="http://schemas.openxmlformats.org/drawingml/2006/main">
              <a:ext uri="{FF2B5EF4-FFF2-40B4-BE49-F238E27FC236}">
                <a16:creationId xmlns:a16="http://schemas.microsoft.com/office/drawing/2014/main" id="{82DE9B0F-CEA8-42E9-B468-17DA09DD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Catalog Trie</a:t>
            </a:r>
          </a:p>
        </p:txBody>
      </p:sp>
      <p:sp>
        <p:nvSpPr>
          <p:cNvPr id="14" name="catalog-trie-body">
            <a:extLst xmlns:a="http://schemas.openxmlformats.org/drawingml/2006/main">
              <a:ext uri="{FF2B5EF4-FFF2-40B4-BE49-F238E27FC236}">
                <a16:creationId xmlns:a16="http://schemas.microsoft.com/office/drawing/2014/main" id="{B3C607F0-2FFB-444B-BD9F-3CB49834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5270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prefix → next IDs</a:t>
            </a:r>
          </a:p>
        </p:txBody>
      </p:sp>
      <p:sp>
        <p:nvSpPr>
          <p:cNvPr id="15" name="catalog-contract-bg">
            <a:extLst xmlns:a="http://schemas.openxmlformats.org/drawingml/2006/main">
              <a:ext uri="{FF2B5EF4-FFF2-40B4-BE49-F238E27FC236}">
                <a16:creationId xmlns:a16="http://schemas.microsoft.com/office/drawing/2014/main" id="{13B6AA1E-8D13-457E-BAA9-9AAA3A51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705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talog-contract-title">
            <a:extLst xmlns:a="http://schemas.openxmlformats.org/drawingml/2006/main">
              <a:ext uri="{FF2B5EF4-FFF2-40B4-BE49-F238E27FC236}">
                <a16:creationId xmlns:a16="http://schemas.microsoft.com/office/drawing/2014/main" id="{25FA3D46-A383-4A4C-9839-5FD200FE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424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运行时契约</a:t>
            </a:r>
          </a:p>
        </p:txBody>
      </p:sp>
      <p:sp>
        <p:nvSpPr>
          <p:cNvPr id="17" name="catalog-contract-body">
            <a:extLst xmlns:a="http://schemas.openxmlformats.org/drawingml/2006/main">
              <a:ext uri="{FF2B5EF4-FFF2-40B4-BE49-F238E27FC236}">
                <a16:creationId xmlns:a16="http://schemas.microsoft.com/office/drawing/2014/main" id="{B2D02756-ADDB-4CD9-935A-C47E1EF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t>valid(generated_tokens) → 当前 Trie 节点的 child token_id 集合</a:t>
            </a:r>
          </a:p>
        </p:txBody>
      </p:sp>
      <p:sp>
        <p:nvSpPr>
          <p:cNvPr id="18" name="catalog-contract-note">
            <a:extLst xmlns:a="http://schemas.openxmlformats.org/drawingml/2006/main">
              <a:ext uri="{FF2B5EF4-FFF2-40B4-BE49-F238E27FC236}">
                <a16:creationId xmlns:a16="http://schemas.microsoft.com/office/drawing/2014/main" id="{A1BA8847-DE8F-4C9D-B9DE-A43C7413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424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CBF4"/>
                </a:solidFill>
                <a:latin typeface="Noto Sans SC"/>
                <a:ea typeface="Noto Sans SC"/>
                <a:cs typeface="Noto Sans SC"/>
              </a:defRPr>
            </a:pPr>
            <a:r>
              <a:t>前缀不存在时返回空集合。</a:t>
            </a:r>
          </a:p>
        </p:txBody>
      </p:sp>
      <p:cxnSp>
        <p:nvCxnSpPr>
          <p:cNvPr id="61" name="catalog-divider"/>
          <p:cNvCxnSpPr/>
          <p:nvPr/>
        </p:nvCxnSpPr>
        <p:spPr>
          <a:xfrm xmlns:a="http://schemas.openxmlformats.org/drawingml/2006/main">
            <a:off x="400050" y="325755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catalog-runtime-title">
            <a:extLst xmlns:a="http://schemas.openxmlformats.org/drawingml/2006/main">
              <a:ext uri="{FF2B5EF4-FFF2-40B4-BE49-F238E27FC236}">
                <a16:creationId xmlns:a16="http://schemas.microsoft.com/office/drawing/2014/main" id="{36602CC8-A6BD-4ADC-B6F0-CACF64E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每个 Beam Step · 两条并行 Host 任务</a:t>
            </a:r>
          </a:p>
        </p:txBody>
      </p:sp>
      <p:cxnSp>
        <p:nvCxnSpPr>
          <p:cNvPr id="63" name="catalog-runtime-engine-arrow"/>
          <p:cNvCxnSpPr/>
          <p:nvPr/>
        </p:nvCxnSpPr>
        <p:spPr>
          <a:xfrm xmlns:a="http://schemas.openxmlformats.org/drawingml/2006/main">
            <a:off x="2038350" y="4572000"/>
            <a:ext cx="8763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4" name="catalog-runtime-trie-arrow"/>
          <p:cNvCxnSpPr/>
          <p:nvPr/>
        </p:nvCxnSpPr>
        <p:spPr>
          <a:xfrm xmlns:a="http://schemas.openxmlformats.org/drawingml/2006/main">
            <a:off x="2038350" y="4572000"/>
            <a:ext cx="8763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CBF4"/>
            </a:solidFill>
            <a:prstDash val="solid"/>
          </a:ln>
        </p:spPr>
      </p:cxnSp>
      <p:cxnSp>
        <p:nvCxnSpPr>
          <p:cNvPr id="65" name="catalog-runtime-join-engine"/>
          <p:cNvCxnSpPr/>
          <p:nvPr/>
        </p:nvCxnSpPr>
        <p:spPr>
          <a:xfrm xmlns:a="http://schemas.openxmlformats.org/drawingml/2006/main">
            <a:off x="5200650" y="4572000"/>
            <a:ext cx="857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6" name="catalog-runtime-join-trie"/>
          <p:cNvCxnSpPr/>
          <p:nvPr/>
        </p:nvCxnSpPr>
        <p:spPr>
          <a:xfrm xmlns:a="http://schemas.openxmlformats.org/drawingml/2006/main">
            <a:off x="5200650" y="4572000"/>
            <a:ext cx="85725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CBF4"/>
            </a:solidFill>
            <a:prstDash val="solid"/>
          </a:ln>
        </p:spPr>
      </p:cxnSp>
      <p:cxnSp>
        <p:nvCxnSpPr>
          <p:cNvPr id="67" name="catalog-runtime-filter-arrow"/>
          <p:cNvCxnSpPr/>
          <p:nvPr/>
        </p:nvCxnSpPr>
        <p:spPr>
          <a:xfrm xmlns:a="http://schemas.openxmlformats.org/drawingml/2006/main">
            <a:off x="8096250" y="4572000"/>
            <a:ext cx="7048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</a:ln>
        </p:spPr>
      </p:cxnSp>
      <p:sp>
        <p:nvSpPr>
          <p:cNvPr id="26" name="catalog-beam-prefix">
            <a:extLst xmlns:a="http://schemas.openxmlformats.org/drawingml/2006/main">
              <a:ext uri="{FF2B5EF4-FFF2-40B4-BE49-F238E27FC236}">
                <a16:creationId xmlns:a16="http://schemas.microsoft.com/office/drawing/2014/main" id="{513A566E-3763-4E60-A246-817F788E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52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catalog-beam-prefix-text">
            <a:extLst xmlns:a="http://schemas.openxmlformats.org/drawingml/2006/main">
              <a:ext uri="{FF2B5EF4-FFF2-40B4-BE49-F238E27FC236}">
                <a16:creationId xmlns:a16="http://schemas.microsoft.com/office/drawing/2014/main" id="{30502372-DD66-48C8-B6C8-6D63A970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257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当前 Beam
generated prefix</a:t>
            </a:r>
          </a:p>
        </p:txBody>
      </p:sp>
      <p:sp>
        <p:nvSpPr>
          <p:cNvPr id="28" name="catalog-engine-step">
            <a:extLst xmlns:a="http://schemas.openxmlformats.org/drawingml/2006/main">
              <a:ext uri="{FF2B5EF4-FFF2-40B4-BE49-F238E27FC236}">
                <a16:creationId xmlns:a16="http://schemas.microsoft.com/office/drawing/2014/main" id="{DCDD72B5-A129-44B4-9FF5-0C0EC3C9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catalog-engine-step-title">
            <a:extLst xmlns:a="http://schemas.openxmlformats.org/drawingml/2006/main">
              <a:ext uri="{FF2B5EF4-FFF2-40B4-BE49-F238E27FC236}">
                <a16:creationId xmlns:a16="http://schemas.microsoft.com/office/drawing/2014/main" id="{018E34B9-5CDC-4B8C-8BA3-9173BB39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Engine / GPU Step</a:t>
            </a:r>
          </a:p>
        </p:txBody>
      </p:sp>
      <p:sp>
        <p:nvSpPr>
          <p:cNvPr id="30" name="catalog-engine-step-body">
            <a:extLst xmlns:a="http://schemas.openxmlformats.org/drawingml/2006/main">
              <a:ext uri="{FF2B5EF4-FFF2-40B4-BE49-F238E27FC236}">
                <a16:creationId xmlns:a16="http://schemas.microsoft.com/office/drawing/2014/main" id="{2F74879D-4852-4D55-BF35-198FC165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67250"/>
            <a:ext cx="1943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每 beam 返回 Top-K</a:t>
            </a:r>
          </a:p>
        </p:txBody>
      </p:sp>
      <p:sp>
        <p:nvSpPr>
          <p:cNvPr id="31" name="catalog-valid-query">
            <a:extLst xmlns:a="http://schemas.openxmlformats.org/drawingml/2006/main">
              <a:ext uri="{FF2B5EF4-FFF2-40B4-BE49-F238E27FC236}">
                <a16:creationId xmlns:a16="http://schemas.microsoft.com/office/drawing/2014/main" id="{D0F2AF4F-FD75-4BCC-A64C-08BC5643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00650"/>
            <a:ext cx="228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2" name="catalog-valid-query-text">
            <a:extLst xmlns:a="http://schemas.openxmlformats.org/drawingml/2006/main">
              <a:ext uri="{FF2B5EF4-FFF2-40B4-BE49-F238E27FC236}">
                <a16:creationId xmlns:a16="http://schemas.microsoft.com/office/drawing/2014/main" id="{0F42925B-14A4-4633-AB33-2E7CE439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CPU thread: Trie.valid(prefix)</a:t>
            </a:r>
          </a:p>
        </p:txBody>
      </p:sp>
      <p:sp>
        <p:nvSpPr>
          <p:cNvPr id="33" name="catalog-join">
            <a:extLst xmlns:a="http://schemas.openxmlformats.org/drawingml/2006/main">
              <a:ext uri="{FF2B5EF4-FFF2-40B4-BE49-F238E27FC236}">
                <a16:creationId xmlns:a16="http://schemas.microsoft.com/office/drawing/2014/main" id="{615B96B2-FE77-453F-BEFF-AEEE6D4C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20383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catalog-join-title">
            <a:extLst xmlns:a="http://schemas.openxmlformats.org/drawingml/2006/main">
              <a:ext uri="{FF2B5EF4-FFF2-40B4-BE49-F238E27FC236}">
                <a16:creationId xmlns:a16="http://schemas.microsoft.com/office/drawing/2014/main" id="{C7BA9419-D66D-4F96-94C0-5557B9FC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1733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await 两路结果</a:t>
            </a:r>
          </a:p>
        </p:txBody>
      </p:sp>
      <p:sp>
        <p:nvSpPr>
          <p:cNvPr id="35" name="catalog-join-body">
            <a:extLst xmlns:a="http://schemas.openxmlformats.org/drawingml/2006/main">
              <a:ext uri="{FF2B5EF4-FFF2-40B4-BE49-F238E27FC236}">
                <a16:creationId xmlns:a16="http://schemas.microsoft.com/office/drawing/2014/main" id="{93908D1C-7934-4262-9079-0896437F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1733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candidates + allowed set</a:t>
            </a:r>
          </a:p>
        </p:txBody>
      </p:sp>
      <p:sp>
        <p:nvSpPr>
          <p:cNvPr id="36" name="catalog-filter">
            <a:extLst xmlns:a="http://schemas.openxmlformats.org/drawingml/2006/main">
              <a:ext uri="{FF2B5EF4-FFF2-40B4-BE49-F238E27FC236}">
                <a16:creationId xmlns:a16="http://schemas.microsoft.com/office/drawing/2014/main" id="{1DDDE1A1-2E57-45C7-BB6A-9149F1DE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7" name="catalog-filter-title">
            <a:extLst xmlns:a="http://schemas.openxmlformats.org/drawingml/2006/main">
              <a:ext uri="{FF2B5EF4-FFF2-40B4-BE49-F238E27FC236}">
                <a16:creationId xmlns:a16="http://schemas.microsoft.com/office/drawing/2014/main" id="{A7DBF186-8A2B-4932-BA43-C7BF6AD5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672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Host 过滤</a:t>
            </a:r>
          </a:p>
        </p:txBody>
      </p:sp>
      <p:sp>
        <p:nvSpPr>
          <p:cNvPr id="38" name="catalog-filter-body">
            <a:extLst xmlns:a="http://schemas.openxmlformats.org/drawingml/2006/main">
              <a:ext uri="{FF2B5EF4-FFF2-40B4-BE49-F238E27FC236}">
                <a16:creationId xmlns:a16="http://schemas.microsoft.com/office/drawing/2014/main" id="{BA5D11B6-E3C5-48C1-A34A-99BA67CF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910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非法候选 logprob = −∞
再做 EOS + 全局 Top-W</a:t>
            </a:r>
          </a:p>
        </p:txBody>
      </p:sp>
      <p:sp>
        <p:nvSpPr>
          <p:cNvPr id="39" name="catalog-risk-bg">
            <a:extLst xmlns:a="http://schemas.openxmlformats.org/drawingml/2006/main">
              <a:ext uri="{FF2B5EF4-FFF2-40B4-BE49-F238E27FC236}">
                <a16:creationId xmlns:a16="http://schemas.microsoft.com/office/drawing/2014/main" id="{859F2F64-5006-4C8C-B1E0-45F2322D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560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0" name="catalog-risk-text">
            <a:extLst xmlns:a="http://schemas.openxmlformats.org/drawingml/2006/main">
              <a:ext uri="{FF2B5EF4-FFF2-40B4-BE49-F238E27FC236}">
                <a16:creationId xmlns:a16="http://schemas.microsoft.com/office/drawing/2014/main" id="{9B901613-4B65-4153-BA4D-67BBA562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72100"/>
            <a:ext cx="5219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正确性边界：先取每 beam Top-K、再做 Catalog 过滤；若合法 token 排名 &gt; K，它不会进入候选集合。</a:t>
            </a:r>
          </a:p>
        </p:txBody>
      </p:sp>
      <p:sp>
        <p:nvSpPr>
          <p:cNvPr id="41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8FF98078-AA64-4EE4-94DD-6B3C3F04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代码：serving_models.py:18–49 · serving_engine.py:372–425, 480–544</a:t>
            </a:r>
          </a:p>
        </p:txBody>
      </p:sp>
      <p:sp>
        <p:nvSpPr>
          <p:cNvPr id="4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B8B108B8-EB2A-4364-B0D1-35EEAFDE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8</a:t>
            </a:r>
          </a:p>
        </p:txBody>
      </p:sp>
    </p:spTree>
    <p:extLst>
      <p:ext uri="{BB962C8B-B14F-4D97-AF65-F5344CB8AC3E}">
        <p14:creationId xmlns:p14="http://schemas.microsoft.com/office/powerpoint/2010/main" val="1105906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176F1F56-3736-47D6-8E98-EF245E90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Catalog：后置过滤会漏掉合法 Token</a:t>
            </a:r>
          </a:p>
        </p:txBody>
      </p:sp>
      <p:cxnSp>
        <p:nvCxnSpPr>
          <p:cNvPr id="34" name="slide-9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catalog-example-intro">
            <a:extLst xmlns:a="http://schemas.openxmlformats.org/drawingml/2006/main">
              <a:ext uri="{FF2B5EF4-FFF2-40B4-BE49-F238E27FC236}">
                <a16:creationId xmlns:a16="http://schemas.microsoft.com/office/drawing/2014/main" id="{E1CFC59B-A2C3-45B3-A445-62311BB7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742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反例 · beam width W = 2，GPU 每条 beam 只返回 K = 2</a:t>
            </a:r>
          </a:p>
        </p:txBody>
      </p:sp>
      <p:sp>
        <p:nvSpPr>
          <p:cNvPr id="4" name="catalog-rank-bg">
            <a:extLst xmlns:a="http://schemas.openxmlformats.org/drawingml/2006/main">
              <a:ext uri="{FF2B5EF4-FFF2-40B4-BE49-F238E27FC236}">
                <a16:creationId xmlns:a16="http://schemas.microsoft.com/office/drawing/2014/main" id="{22810F50-8CA5-42D2-B65C-131F7B5A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9626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talog-rank-header">
            <a:extLst xmlns:a="http://schemas.openxmlformats.org/drawingml/2006/main">
              <a:ext uri="{FF2B5EF4-FFF2-40B4-BE49-F238E27FC236}">
                <a16:creationId xmlns:a16="http://schemas.microsoft.com/office/drawing/2014/main" id="{5B472AAC-0EE6-4194-8A5A-F5CB9D16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42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talog-rank-h1">
            <a:extLst xmlns:a="http://schemas.openxmlformats.org/drawingml/2006/main">
              <a:ext uri="{FF2B5EF4-FFF2-40B4-BE49-F238E27FC236}">
                <a16:creationId xmlns:a16="http://schemas.microsoft.com/office/drawing/2014/main" id="{B0D7B5B3-1C11-423A-8A15-A333C244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原始排名</a:t>
            </a:r>
          </a:p>
        </p:txBody>
      </p:sp>
      <p:sp>
        <p:nvSpPr>
          <p:cNvPr id="7" name="catalog-rank-h2">
            <a:extLst xmlns:a="http://schemas.openxmlformats.org/drawingml/2006/main">
              <a:ext uri="{FF2B5EF4-FFF2-40B4-BE49-F238E27FC236}">
                <a16:creationId xmlns:a16="http://schemas.microsoft.com/office/drawing/2014/main" id="{03FE907E-6DD8-4490-8DAC-6A88CB25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812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Token</a:t>
            </a:r>
          </a:p>
        </p:txBody>
      </p:sp>
      <p:sp>
        <p:nvSpPr>
          <p:cNvPr id="8" name="catalog-rank-h3">
            <a:extLst xmlns:a="http://schemas.openxmlformats.org/drawingml/2006/main">
              <a:ext uri="{FF2B5EF4-FFF2-40B4-BE49-F238E27FC236}">
                <a16:creationId xmlns:a16="http://schemas.microsoft.com/office/drawing/2014/main" id="{D10F115B-FD09-4B39-8522-25234832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812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Catalog</a:t>
            </a:r>
          </a:p>
        </p:txBody>
      </p:sp>
      <p:sp>
        <p:nvSpPr>
          <p:cNvPr id="9" name="catalog-rank-h4">
            <a:extLst xmlns:a="http://schemas.openxmlformats.org/drawingml/2006/main">
              <a:ext uri="{FF2B5EF4-FFF2-40B4-BE49-F238E27FC236}">
                <a16:creationId xmlns:a16="http://schemas.microsoft.com/office/drawing/2014/main" id="{A7C2A502-1411-4155-83B6-A04EF29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91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是否返回</a:t>
            </a:r>
          </a:p>
        </p:txBody>
      </p:sp>
      <p:sp>
        <p:nvSpPr>
          <p:cNvPr id="10" name="catalog-rank-row1">
            <a:extLst xmlns:a="http://schemas.openxmlformats.org/drawingml/2006/main">
              <a:ext uri="{FF2B5EF4-FFF2-40B4-BE49-F238E27FC236}">
                <a16:creationId xmlns:a16="http://schemas.microsoft.com/office/drawing/2014/main" id="{E2CDFBF0-ECCE-4408-BA03-3A72BF9D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atalog-rank-row2">
            <a:extLst xmlns:a="http://schemas.openxmlformats.org/drawingml/2006/main">
              <a:ext uri="{FF2B5EF4-FFF2-40B4-BE49-F238E27FC236}">
                <a16:creationId xmlns:a16="http://schemas.microsoft.com/office/drawing/2014/main" id="{64500CB8-17DA-4EF8-A27F-DA64A235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atalog-rank-row3">
            <a:extLst xmlns:a="http://schemas.openxmlformats.org/drawingml/2006/main">
              <a:ext uri="{FF2B5EF4-FFF2-40B4-BE49-F238E27FC236}">
                <a16:creationId xmlns:a16="http://schemas.microsoft.com/office/drawing/2014/main" id="{3B07C2E4-0C10-409C-9BDF-86917E1D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catalog-r1-rank">
            <a:extLst xmlns:a="http://schemas.openxmlformats.org/drawingml/2006/main">
              <a:ext uri="{FF2B5EF4-FFF2-40B4-BE49-F238E27FC236}">
                <a16:creationId xmlns:a16="http://schemas.microsoft.com/office/drawing/2014/main" id="{9AB75677-0D46-4D88-B52A-DE8B54ED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1</a:t>
            </a:r>
          </a:p>
        </p:txBody>
      </p:sp>
      <p:sp>
        <p:nvSpPr>
          <p:cNvPr id="14" name="catalog-r1-token">
            <a:extLst xmlns:a="http://schemas.openxmlformats.org/drawingml/2006/main">
              <a:ext uri="{FF2B5EF4-FFF2-40B4-BE49-F238E27FC236}">
                <a16:creationId xmlns:a16="http://schemas.microsoft.com/office/drawing/2014/main" id="{BF30ED4D-AAE2-4E2E-A710-F1CE01ED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33700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a</a:t>
            </a:r>
          </a:p>
        </p:txBody>
      </p:sp>
      <p:sp>
        <p:nvSpPr>
          <p:cNvPr id="15" name="catalog-r1-valid">
            <a:extLst xmlns:a="http://schemas.openxmlformats.org/drawingml/2006/main">
              <a:ext uri="{FF2B5EF4-FFF2-40B4-BE49-F238E27FC236}">
                <a16:creationId xmlns:a16="http://schemas.microsoft.com/office/drawing/2014/main" id="{7AF803BF-8866-4CAD-8D62-5EF3373B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33700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4343"/>
                </a:solidFill>
                <a:latin typeface="Noto Sans SC"/>
                <a:ea typeface="Noto Sans SC"/>
                <a:cs typeface="Noto Sans SC"/>
              </a:defRPr>
            </a:pPr>
            <a:r>
              <a:t>非法</a:t>
            </a:r>
          </a:p>
        </p:txBody>
      </p:sp>
      <p:sp>
        <p:nvSpPr>
          <p:cNvPr id="16" name="catalog-r1-return">
            <a:extLst xmlns:a="http://schemas.openxmlformats.org/drawingml/2006/main">
              <a:ext uri="{FF2B5EF4-FFF2-40B4-BE49-F238E27FC236}">
                <a16:creationId xmlns:a16="http://schemas.microsoft.com/office/drawing/2014/main" id="{637D46D7-821C-4882-8063-B429207C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337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✓</a:t>
            </a:r>
          </a:p>
        </p:txBody>
      </p:sp>
      <p:sp>
        <p:nvSpPr>
          <p:cNvPr id="17" name="catalog-r2-rank">
            <a:extLst xmlns:a="http://schemas.openxmlformats.org/drawingml/2006/main">
              <a:ext uri="{FF2B5EF4-FFF2-40B4-BE49-F238E27FC236}">
                <a16:creationId xmlns:a16="http://schemas.microsoft.com/office/drawing/2014/main" id="{4DF2A800-7B15-485B-BBCD-9E1A15AF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2</a:t>
            </a:r>
          </a:p>
        </p:txBody>
      </p:sp>
      <p:sp>
        <p:nvSpPr>
          <p:cNvPr id="18" name="catalog-r2-token">
            <a:extLst xmlns:a="http://schemas.openxmlformats.org/drawingml/2006/main">
              <a:ext uri="{FF2B5EF4-FFF2-40B4-BE49-F238E27FC236}">
                <a16:creationId xmlns:a16="http://schemas.microsoft.com/office/drawing/2014/main" id="{743BA9D3-38A8-4E34-A9E5-9D9B3908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24250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b</a:t>
            </a:r>
          </a:p>
        </p:txBody>
      </p:sp>
      <p:sp>
        <p:nvSpPr>
          <p:cNvPr id="19" name="catalog-r2-valid">
            <a:extLst xmlns:a="http://schemas.openxmlformats.org/drawingml/2006/main">
              <a:ext uri="{FF2B5EF4-FFF2-40B4-BE49-F238E27FC236}">
                <a16:creationId xmlns:a16="http://schemas.microsoft.com/office/drawing/2014/main" id="{E62A18D4-5D32-4933-BA6B-F9131AC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24250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4343"/>
                </a:solidFill>
                <a:latin typeface="Noto Sans SC"/>
                <a:ea typeface="Noto Sans SC"/>
                <a:cs typeface="Noto Sans SC"/>
              </a:defRPr>
            </a:pPr>
            <a:r>
              <a:t>非法</a:t>
            </a:r>
          </a:p>
        </p:txBody>
      </p:sp>
      <p:sp>
        <p:nvSpPr>
          <p:cNvPr id="20" name="catalog-r2-return">
            <a:extLst xmlns:a="http://schemas.openxmlformats.org/drawingml/2006/main">
              <a:ext uri="{FF2B5EF4-FFF2-40B4-BE49-F238E27FC236}">
                <a16:creationId xmlns:a16="http://schemas.microsoft.com/office/drawing/2014/main" id="{589645F6-0931-46D7-AF19-F2A8522C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242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✓</a:t>
            </a:r>
          </a:p>
        </p:txBody>
      </p:sp>
      <p:sp>
        <p:nvSpPr>
          <p:cNvPr id="21" name="catalog-r3-rank">
            <a:extLst xmlns:a="http://schemas.openxmlformats.org/drawingml/2006/main">
              <a:ext uri="{FF2B5EF4-FFF2-40B4-BE49-F238E27FC236}">
                <a16:creationId xmlns:a16="http://schemas.microsoft.com/office/drawing/2014/main" id="{C534A55A-0B73-4111-BF50-E0CF1AA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3</a:t>
            </a:r>
          </a:p>
        </p:txBody>
      </p:sp>
      <p:sp>
        <p:nvSpPr>
          <p:cNvPr id="22" name="catalog-r3-token">
            <a:extLst xmlns:a="http://schemas.openxmlformats.org/drawingml/2006/main">
              <a:ext uri="{FF2B5EF4-FFF2-40B4-BE49-F238E27FC236}">
                <a16:creationId xmlns:a16="http://schemas.microsoft.com/office/drawing/2014/main" id="{C48194F1-6DC5-497D-8AA4-AF16273A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14800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c</a:t>
            </a:r>
          </a:p>
        </p:txBody>
      </p:sp>
      <p:sp>
        <p:nvSpPr>
          <p:cNvPr id="23" name="catalog-r3-valid">
            <a:extLst xmlns:a="http://schemas.openxmlformats.org/drawingml/2006/main">
              <a:ext uri="{FF2B5EF4-FFF2-40B4-BE49-F238E27FC236}">
                <a16:creationId xmlns:a16="http://schemas.microsoft.com/office/drawing/2014/main" id="{5209327E-3A77-47A1-815C-4B44FD87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14800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855A"/>
                </a:solidFill>
                <a:latin typeface="Noto Sans SC"/>
                <a:ea typeface="Noto Sans SC"/>
                <a:cs typeface="Noto Sans SC"/>
              </a:defRPr>
            </a:pPr>
            <a:r>
              <a:t>合法</a:t>
            </a:r>
          </a:p>
        </p:txBody>
      </p:sp>
      <p:sp>
        <p:nvSpPr>
          <p:cNvPr id="24" name="catalog-r3-return">
            <a:extLst xmlns:a="http://schemas.openxmlformats.org/drawingml/2006/main">
              <a:ext uri="{FF2B5EF4-FFF2-40B4-BE49-F238E27FC236}">
                <a16:creationId xmlns:a16="http://schemas.microsoft.com/office/drawing/2014/main" id="{5372A7C2-D4E7-4D9C-988D-439D799D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14343"/>
                </a:solidFill>
                <a:latin typeface="Noto Sans SC"/>
                <a:ea typeface="Noto Sans SC"/>
                <a:cs typeface="Noto Sans SC"/>
              </a:defRPr>
            </a:pPr>
            <a:r>
              <a:t>×</a:t>
            </a:r>
          </a:p>
        </p:txBody>
      </p:sp>
      <p:sp>
        <p:nvSpPr>
          <p:cNvPr id="25" name="catalog-consequence-bg">
            <a:extLst xmlns:a="http://schemas.openxmlformats.org/drawingml/2006/main">
              <a:ext uri="{FF2B5EF4-FFF2-40B4-BE49-F238E27FC236}">
                <a16:creationId xmlns:a16="http://schemas.microsoft.com/office/drawing/2014/main" id="{C998BD96-4F19-4DDC-B3CB-0079E26D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47625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14343"/>
            </a:solidFill>
            <a:prstDash val="solid"/>
          </a:ln>
        </p:spPr>
      </p:sp>
      <p:sp>
        <p:nvSpPr>
          <p:cNvPr id="26" name="catalog-consequence-title">
            <a:extLst xmlns:a="http://schemas.openxmlformats.org/drawingml/2006/main">
              <a:ext uri="{FF2B5EF4-FFF2-40B4-BE49-F238E27FC236}">
                <a16:creationId xmlns:a16="http://schemas.microsoft.com/office/drawing/2014/main" id="{73F030A7-8727-49AA-9E21-AE074E9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66950"/>
            <a:ext cx="422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14343"/>
                </a:solidFill>
                <a:latin typeface="Noto Sans SC"/>
                <a:ea typeface="Noto Sans SC"/>
                <a:cs typeface="Noto Sans SC"/>
              </a:defRPr>
            </a:pPr>
            <a:r>
              <a:t>当前路径的结果</a:t>
            </a:r>
          </a:p>
        </p:txBody>
      </p:sp>
      <p:sp>
        <p:nvSpPr>
          <p:cNvPr id="27" name="catalog-consequence-text">
            <a:extLst xmlns:a="http://schemas.openxmlformats.org/drawingml/2006/main">
              <a:ext uri="{FF2B5EF4-FFF2-40B4-BE49-F238E27FC236}">
                <a16:creationId xmlns:a16="http://schemas.microsoft.com/office/drawing/2014/main" id="{F09CF2E2-5645-4A66-ABA3-B2AFEA5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76550"/>
            <a:ext cx="42291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GPU 返回 {a, b}
Host 过滤后 {−∞, −∞}
合法候选 c 从未进入候选池</a:t>
            </a:r>
          </a:p>
        </p:txBody>
      </p:sp>
      <p:sp>
        <p:nvSpPr>
          <p:cNvPr id="28" name="catalog-fix-bg">
            <a:extLst xmlns:a="http://schemas.openxmlformats.org/drawingml/2006/main">
              <a:ext uri="{FF2B5EF4-FFF2-40B4-BE49-F238E27FC236}">
                <a16:creationId xmlns:a16="http://schemas.microsoft.com/office/drawing/2014/main" id="{3F7B94E9-7D83-40CF-8F29-98DDF19D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11144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talog-fix-title">
            <a:extLst xmlns:a="http://schemas.openxmlformats.org/drawingml/2006/main">
              <a:ext uri="{FF2B5EF4-FFF2-40B4-BE49-F238E27FC236}">
                <a16:creationId xmlns:a16="http://schemas.microsoft.com/office/drawing/2014/main" id="{306746D6-3E9D-48A7-83D6-C208B258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687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正确顺序：约束必须先于 Top-K</a:t>
            </a:r>
          </a:p>
        </p:txBody>
      </p:sp>
      <p:sp>
        <p:nvSpPr>
          <p:cNvPr id="30" name="catalog-fix-text">
            <a:extLst xmlns:a="http://schemas.openxmlformats.org/drawingml/2006/main">
              <a:ext uri="{FF2B5EF4-FFF2-40B4-BE49-F238E27FC236}">
                <a16:creationId xmlns:a16="http://schemas.microsoft.com/office/drawing/2014/main" id="{7E800729-9A68-492D-9B5A-3CCD7713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687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首选：logits 施加 Trie mask → Top-K　｜　备选：仅 gather allowed-token logits　｜　折中：扩大 K（需证明停止条件）</a:t>
            </a:r>
          </a:p>
        </p:txBody>
      </p:sp>
      <p:sp>
        <p:nvSpPr>
          <p:cNvPr id="31" name="slide-9-source">
            <a:extLst xmlns:a="http://schemas.openxmlformats.org/drawingml/2006/main">
              <a:ext uri="{FF2B5EF4-FFF2-40B4-BE49-F238E27FC236}">
                <a16:creationId xmlns:a16="http://schemas.microsoft.com/office/drawing/2014/main" id="{32702E92-C555-477B-B951-753E1F50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代码：serving_engine.py:480–544；当前实现是 post-Top-K Catalog filtering</a:t>
            </a:r>
          </a:p>
        </p:txBody>
      </p:sp>
      <p:sp>
        <p:nvSpPr>
          <p:cNvPr id="3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7BDE7479-4D6C-4FB5-80B9-4ADA46B1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9</a:t>
            </a:r>
          </a:p>
        </p:txBody>
      </p:sp>
    </p:spTree>
    <p:extLst>
      <p:ext uri="{BB962C8B-B14F-4D97-AF65-F5344CB8AC3E}">
        <p14:creationId xmlns:p14="http://schemas.microsoft.com/office/powerpoint/2010/main" val="227094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6FB3E1BD-E98C-4C8E-A5E0-C6EE4977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Batch 有三层：实例批、逻辑请求批、GPU 行批</a:t>
            </a:r>
          </a:p>
        </p:txBody>
      </p:sp>
      <p:cxnSp>
        <p:nvCxnSpPr>
          <p:cNvPr id="40" name="slide-10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1" name="batch-arrow-host-scheduler"/>
          <p:cNvCxnSpPr/>
          <p:nvPr/>
        </p:nvCxnSpPr>
        <p:spPr>
          <a:xfrm xmlns:a="http://schemas.openxmlformats.org/drawingml/2006/main">
            <a:off x="3714750" y="3105150"/>
            <a:ext cx="7239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2" name="batch-arrow-scheduler-gpu"/>
          <p:cNvCxnSpPr/>
          <p:nvPr/>
        </p:nvCxnSpPr>
        <p:spPr>
          <a:xfrm xmlns:a="http://schemas.openxmlformats.org/drawingml/2006/main">
            <a:off x="7677150" y="3105150"/>
            <a:ext cx="7239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5" name="host-batch-bg">
            <a:extLst xmlns:a="http://schemas.openxmlformats.org/drawingml/2006/main">
              <a:ext uri="{FF2B5EF4-FFF2-40B4-BE49-F238E27FC236}">
                <a16:creationId xmlns:a16="http://schemas.microsoft.com/office/drawing/2014/main" id="{F0237BB7-BB36-4520-BB81-E08EFFD1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200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heduler-batch-bg">
            <a:extLst xmlns:a="http://schemas.openxmlformats.org/drawingml/2006/main">
              <a:ext uri="{FF2B5EF4-FFF2-40B4-BE49-F238E27FC236}">
                <a16:creationId xmlns:a16="http://schemas.microsoft.com/office/drawing/2014/main" id="{9C947513-2282-4CC4-A330-03F8A5E7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00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pu-batch-bg">
            <a:extLst xmlns:a="http://schemas.openxmlformats.org/drawingml/2006/main">
              <a:ext uri="{FF2B5EF4-FFF2-40B4-BE49-F238E27FC236}">
                <a16:creationId xmlns:a16="http://schemas.microsoft.com/office/drawing/2014/main" id="{063C1795-981C-47DB-822E-483B8AB6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194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ost-batch-title">
            <a:extLst xmlns:a="http://schemas.openxmlformats.org/drawingml/2006/main">
              <a:ext uri="{FF2B5EF4-FFF2-40B4-BE49-F238E27FC236}">
                <a16:creationId xmlns:a16="http://schemas.microsoft.com/office/drawing/2014/main" id="{3E998796-3038-448F-AFA5-72E2F017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743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① Host：B 个活跃实例</a:t>
            </a:r>
          </a:p>
        </p:txBody>
      </p:sp>
      <p:sp>
        <p:nvSpPr>
          <p:cNvPr id="9" name="host-batch-desc">
            <a:extLst xmlns:a="http://schemas.openxmlformats.org/drawingml/2006/main">
              <a:ext uri="{FF2B5EF4-FFF2-40B4-BE49-F238E27FC236}">
                <a16:creationId xmlns:a16="http://schemas.microsoft.com/office/drawing/2014/main" id="{9A7C0693-548F-4C6B-9D0F-DF833005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686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同一 token step 先更新全部实例，再统一 step engine</a:t>
            </a:r>
          </a:p>
        </p:txBody>
      </p:sp>
      <p:sp>
        <p:nvSpPr>
          <p:cNvPr id="10" name="host-session-a">
            <a:extLst xmlns:a="http://schemas.openxmlformats.org/drawingml/2006/main">
              <a:ext uri="{FF2B5EF4-FFF2-40B4-BE49-F238E27FC236}">
                <a16:creationId xmlns:a16="http://schemas.microsoft.com/office/drawing/2014/main" id="{5372AC27-223F-4C5A-BB0F-78530EE1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514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1" name="host-session-b">
            <a:extLst xmlns:a="http://schemas.openxmlformats.org/drawingml/2006/main">
              <a:ext uri="{FF2B5EF4-FFF2-40B4-BE49-F238E27FC236}">
                <a16:creationId xmlns:a16="http://schemas.microsoft.com/office/drawing/2014/main" id="{FC1B16C0-C027-4590-BE25-A1A0E40F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514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host-session-z">
            <a:extLst xmlns:a="http://schemas.openxmlformats.org/drawingml/2006/main">
              <a:ext uri="{FF2B5EF4-FFF2-40B4-BE49-F238E27FC236}">
                <a16:creationId xmlns:a16="http://schemas.microsoft.com/office/drawing/2014/main" id="{84B142DF-4AD9-4A03-997D-357540B0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514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3" name="host-session-a-text">
            <a:extLst xmlns:a="http://schemas.openxmlformats.org/drawingml/2006/main">
              <a:ext uri="{FF2B5EF4-FFF2-40B4-BE49-F238E27FC236}">
                <a16:creationId xmlns:a16="http://schemas.microsoft.com/office/drawing/2014/main" id="{A421F8C0-E853-4729-8557-0923BDFE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instance 0 → session 0</a:t>
            </a:r>
          </a:p>
        </p:txBody>
      </p:sp>
      <p:sp>
        <p:nvSpPr>
          <p:cNvPr id="14" name="host-session-b-text">
            <a:extLst xmlns:a="http://schemas.openxmlformats.org/drawingml/2006/main">
              <a:ext uri="{FF2B5EF4-FFF2-40B4-BE49-F238E27FC236}">
                <a16:creationId xmlns:a16="http://schemas.microsoft.com/office/drawing/2014/main" id="{5DFD7D07-AF89-4D55-B944-C6DABE65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instance 1 → session 1</a:t>
            </a:r>
          </a:p>
        </p:txBody>
      </p:sp>
      <p:sp>
        <p:nvSpPr>
          <p:cNvPr id="15" name="host-session-z-text">
            <a:extLst xmlns:a="http://schemas.openxmlformats.org/drawingml/2006/main">
              <a:ext uri="{FF2B5EF4-FFF2-40B4-BE49-F238E27FC236}">
                <a16:creationId xmlns:a16="http://schemas.microsoft.com/office/drawing/2014/main" id="{DF488F04-2012-487F-927C-AD00AD3E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… instance B−1</a:t>
            </a:r>
          </a:p>
        </p:txBody>
      </p:sp>
      <p:sp>
        <p:nvSpPr>
          <p:cNvPr id="16" name="scheduler-batch-title">
            <a:extLst xmlns:a="http://schemas.openxmlformats.org/drawingml/2006/main">
              <a:ext uri="{FF2B5EF4-FFF2-40B4-BE49-F238E27FC236}">
                <a16:creationId xmlns:a16="http://schemas.microsoft.com/office/drawing/2014/main" id="{4F0533A3-0E84-45B5-A0DD-BDF3E582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573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② Scheduler：逻辑请求</a:t>
            </a:r>
          </a:p>
        </p:txBody>
      </p:sp>
      <p:sp>
        <p:nvSpPr>
          <p:cNvPr id="17" name="scheduler-batch-desc">
            <a:extLst xmlns:a="http://schemas.openxmlformats.org/drawingml/2006/main">
              <a:ext uri="{FF2B5EF4-FFF2-40B4-BE49-F238E27FC236}">
                <a16:creationId xmlns:a16="http://schemas.microsoft.com/office/drawing/2014/main" id="{65E38B7C-7F37-4616-A54E-1D5252EE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2724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每个 session 只占 1 个 request 槽；可与普通请求混合调度</a:t>
            </a:r>
          </a:p>
        </p:txBody>
      </p:sp>
      <p:sp>
        <p:nvSpPr>
          <p:cNvPr id="18" name="scheduler-row-0">
            <a:extLst xmlns:a="http://schemas.openxmlformats.org/drawingml/2006/main">
              <a:ext uri="{FF2B5EF4-FFF2-40B4-BE49-F238E27FC236}">
                <a16:creationId xmlns:a16="http://schemas.microsoft.com/office/drawing/2014/main" id="{1C12DEF7-53CB-4D69-90FB-7AA4D7FE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52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cheduler-row-1">
            <a:extLst xmlns:a="http://schemas.openxmlformats.org/drawingml/2006/main">
              <a:ext uri="{FF2B5EF4-FFF2-40B4-BE49-F238E27FC236}">
                <a16:creationId xmlns:a16="http://schemas.microsoft.com/office/drawing/2014/main" id="{383780B7-1543-4F31-BC38-48E7D803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2552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cheduler-row-2">
            <a:extLst xmlns:a="http://schemas.openxmlformats.org/drawingml/2006/main">
              <a:ext uri="{FF2B5EF4-FFF2-40B4-BE49-F238E27FC236}">
                <a16:creationId xmlns:a16="http://schemas.microsoft.com/office/drawing/2014/main" id="{E97073AF-A0F9-48ED-AA62-343704A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76700"/>
            <a:ext cx="2552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cheduler-row-0-text">
            <a:extLst xmlns:a="http://schemas.openxmlformats.org/drawingml/2006/main">
              <a:ext uri="{FF2B5EF4-FFF2-40B4-BE49-F238E27FC236}">
                <a16:creationId xmlns:a16="http://schemas.microsoft.com/office/drawing/2014/main" id="{4BC0CB8A-1D76-4E46-824E-95CE9C26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24175"/>
            <a:ext cx="232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session 0 = P₀ ∥ S₀,₀…S₀,ᵂ⁻¹</a:t>
            </a:r>
          </a:p>
        </p:txBody>
      </p:sp>
      <p:sp>
        <p:nvSpPr>
          <p:cNvPr id="22" name="scheduler-row-1-text">
            <a:extLst xmlns:a="http://schemas.openxmlformats.org/drawingml/2006/main">
              <a:ext uri="{FF2B5EF4-FFF2-40B4-BE49-F238E27FC236}">
                <a16:creationId xmlns:a16="http://schemas.microsoft.com/office/drawing/2014/main" id="{EDFAAE8E-ABC6-426A-AE1E-3B9C5F0B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71875"/>
            <a:ext cx="232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standard request</a:t>
            </a:r>
          </a:p>
        </p:txBody>
      </p:sp>
      <p:sp>
        <p:nvSpPr>
          <p:cNvPr id="23" name="scheduler-row-2-text">
            <a:extLst xmlns:a="http://schemas.openxmlformats.org/drawingml/2006/main">
              <a:ext uri="{FF2B5EF4-FFF2-40B4-BE49-F238E27FC236}">
                <a16:creationId xmlns:a16="http://schemas.microsoft.com/office/drawing/2014/main" id="{8B4D64CD-6822-4F00-9ECA-6071BDB2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9575"/>
            <a:ext cx="232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session 1 = P₁ ∥ S₁,₀…S₁,ᵂ⁻¹</a:t>
            </a:r>
          </a:p>
        </p:txBody>
      </p:sp>
      <p:sp>
        <p:nvSpPr>
          <p:cNvPr id="24" name="gpu-batch-title">
            <a:extLst xmlns:a="http://schemas.openxmlformats.org/drawingml/2006/main">
              <a:ext uri="{FF2B5EF4-FFF2-40B4-BE49-F238E27FC236}">
                <a16:creationId xmlns:a16="http://schemas.microsoft.com/office/drawing/2014/main" id="{F0534FE5-E23C-4789-972B-F28F95E4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③ Runner：物理行</a:t>
            </a:r>
          </a:p>
        </p:txBody>
      </p:sp>
      <p:sp>
        <p:nvSpPr>
          <p:cNvPr id="25" name="gpu-batch-desc">
            <a:extLst xmlns:a="http://schemas.openxmlformats.org/drawingml/2006/main">
              <a:ext uri="{FF2B5EF4-FFF2-40B4-BE49-F238E27FC236}">
                <a16:creationId xmlns:a16="http://schemas.microsoft.com/office/drawing/2014/main" id="{4824093D-C7FE-4532-8A2F-5C5C9BED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52650"/>
            <a:ext cx="2724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Beam 展开 W 行；普通请求 1 行；采样后折叠</a:t>
            </a:r>
          </a:p>
        </p:txBody>
      </p:sp>
      <p:sp>
        <p:nvSpPr>
          <p:cNvPr id="26" name="gpu-beam-0">
            <a:extLst xmlns:a="http://schemas.openxmlformats.org/drawingml/2006/main">
              <a:ext uri="{FF2B5EF4-FFF2-40B4-BE49-F238E27FC236}">
                <a16:creationId xmlns:a16="http://schemas.microsoft.com/office/drawing/2014/main" id="{51464408-B420-4926-8D75-FFF6270C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685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gpu-beam-1">
            <a:extLst xmlns:a="http://schemas.openxmlformats.org/drawingml/2006/main">
              <a:ext uri="{FF2B5EF4-FFF2-40B4-BE49-F238E27FC236}">
                <a16:creationId xmlns:a16="http://schemas.microsoft.com/office/drawing/2014/main" id="{711EEF47-15F6-4645-BD13-ED6B17D3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685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gpu-beam-w">
            <a:extLst xmlns:a="http://schemas.openxmlformats.org/drawingml/2006/main">
              <a:ext uri="{FF2B5EF4-FFF2-40B4-BE49-F238E27FC236}">
                <a16:creationId xmlns:a16="http://schemas.microsoft.com/office/drawing/2014/main" id="{B2F39B83-60A3-478B-864D-0BB8D0D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81300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gpu-beam-0-text">
            <a:extLst xmlns:a="http://schemas.openxmlformats.org/drawingml/2006/main">
              <a:ext uri="{FF2B5EF4-FFF2-40B4-BE49-F238E27FC236}">
                <a16:creationId xmlns:a16="http://schemas.microsoft.com/office/drawing/2014/main" id="{C4FE0AE1-4127-4647-B076-9390AD3A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24175"/>
            <a:ext cx="685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b0</a:t>
            </a:r>
          </a:p>
        </p:txBody>
      </p:sp>
      <p:sp>
        <p:nvSpPr>
          <p:cNvPr id="30" name="gpu-beam-1-text">
            <a:extLst xmlns:a="http://schemas.openxmlformats.org/drawingml/2006/main">
              <a:ext uri="{FF2B5EF4-FFF2-40B4-BE49-F238E27FC236}">
                <a16:creationId xmlns:a16="http://schemas.microsoft.com/office/drawing/2014/main" id="{05ED09A8-579A-4C44-8164-75CC83C8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24175"/>
            <a:ext cx="685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b1</a:t>
            </a:r>
          </a:p>
        </p:txBody>
      </p:sp>
      <p:sp>
        <p:nvSpPr>
          <p:cNvPr id="31" name="gpu-beam-w-text">
            <a:extLst xmlns:a="http://schemas.openxmlformats.org/drawingml/2006/main">
              <a:ext uri="{FF2B5EF4-FFF2-40B4-BE49-F238E27FC236}">
                <a16:creationId xmlns:a16="http://schemas.microsoft.com/office/drawing/2014/main" id="{C938AD04-6C67-4741-9139-C43B734D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24175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… bW−1</a:t>
            </a:r>
          </a:p>
        </p:txBody>
      </p:sp>
      <p:sp>
        <p:nvSpPr>
          <p:cNvPr id="32" name="gpu-standard-row">
            <a:extLst xmlns:a="http://schemas.openxmlformats.org/drawingml/2006/main">
              <a:ext uri="{FF2B5EF4-FFF2-40B4-BE49-F238E27FC236}">
                <a16:creationId xmlns:a16="http://schemas.microsoft.com/office/drawing/2014/main" id="{A79115A9-A025-4EE6-9ABC-3F1CBABD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243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gpu-standard-row-text">
            <a:extLst xmlns:a="http://schemas.openxmlformats.org/drawingml/2006/main">
              <a:ext uri="{FF2B5EF4-FFF2-40B4-BE49-F238E27FC236}">
                <a16:creationId xmlns:a16="http://schemas.microsoft.com/office/drawing/2014/main" id="{B014F622-0962-4052-921E-7E5CDBEE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43325"/>
            <a:ext cx="220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standard row</a:t>
            </a:r>
          </a:p>
        </p:txBody>
      </p:sp>
      <p:sp>
        <p:nvSpPr>
          <p:cNvPr id="34" name="gpu-collapse-text">
            <a:extLst xmlns:a="http://schemas.openxmlformats.org/drawingml/2006/main">
              <a:ext uri="{FF2B5EF4-FFF2-40B4-BE49-F238E27FC236}">
                <a16:creationId xmlns:a16="http://schemas.microsoft.com/office/drawing/2014/main" id="{0F51E5A6-9002-4666-9B85-E94CEEE3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62450"/>
            <a:ext cx="2438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logits: W×K → 1 flattened row / session</a:t>
            </a:r>
          </a:p>
        </p:txBody>
      </p:sp>
      <p:sp>
        <p:nvSpPr>
          <p:cNvPr id="35" name="batch-formula-bg">
            <a:extLst xmlns:a="http://schemas.openxmlformats.org/drawingml/2006/main">
              <a:ext uri="{FF2B5EF4-FFF2-40B4-BE49-F238E27FC236}">
                <a16:creationId xmlns:a16="http://schemas.microsoft.com/office/drawing/2014/main" id="{4A827469-03D6-4452-9140-26202644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114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formula">
            <a:extLst xmlns:a="http://schemas.openxmlformats.org/drawingml/2006/main">
              <a:ext uri="{FF2B5EF4-FFF2-40B4-BE49-F238E27FC236}">
                <a16:creationId xmlns:a16="http://schemas.microsoft.com/office/drawing/2014/main" id="{607A37E0-8F69-4690-A773-6046C79B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72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逻辑请求数 = B + Rstd　｜　GPU 行数 = Rstd + ΣWᵢ　｜　token budget = Σ packed tokens</a:t>
            </a:r>
          </a:p>
        </p:txBody>
      </p:sp>
      <p:sp>
        <p:nvSpPr>
          <p:cNvPr id="37" name="slide-10-source">
            <a:extLst xmlns:a="http://schemas.openxmlformats.org/drawingml/2006/main">
              <a:ext uri="{FF2B5EF4-FFF2-40B4-BE49-F238E27FC236}">
                <a16:creationId xmlns:a16="http://schemas.microsoft.com/office/drawing/2014/main" id="{FA32C97D-37DC-42A1-8B11-BA5135E4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代码：serving_engine.py:54–85, 391–419 · core.py:157–194 · engine_core_patch.py:688–771</a:t>
            </a:r>
          </a:p>
        </p:txBody>
      </p:sp>
      <p:sp>
        <p:nvSpPr>
          <p:cNvPr id="38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352B0147-2CB1-428B-92BC-343C516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10</a:t>
            </a:r>
          </a:p>
        </p:txBody>
      </p:sp>
    </p:spTree>
    <p:extLst>
      <p:ext uri="{BB962C8B-B14F-4D97-AF65-F5344CB8AC3E}">
        <p14:creationId xmlns:p14="http://schemas.microsoft.com/office/powerpoint/2010/main" val="3694419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4E2B3280-37C1-4B5D-8917-D9ED24AE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Scheduler 按 packed token 与 KV 资源调度</a:t>
            </a:r>
          </a:p>
        </p:txBody>
      </p:sp>
      <p:cxnSp>
        <p:nvCxnSpPr>
          <p:cNvPr id="46" name="slide-11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7" name="sched-arrow-1"/>
          <p:cNvCxnSpPr/>
          <p:nvPr/>
        </p:nvCxnSpPr>
        <p:spPr>
          <a:xfrm xmlns:a="http://schemas.openxmlformats.org/drawingml/2006/main">
            <a:off x="2400300" y="2209800"/>
            <a:ext cx="2095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8" name="sched-arrow-2"/>
          <p:cNvCxnSpPr/>
          <p:nvPr/>
        </p:nvCxnSpPr>
        <p:spPr>
          <a:xfrm xmlns:a="http://schemas.openxmlformats.org/drawingml/2006/main">
            <a:off x="4629150" y="2209800"/>
            <a:ext cx="2095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9" name="sched-arrow-3"/>
          <p:cNvCxnSpPr/>
          <p:nvPr/>
        </p:nvCxnSpPr>
        <p:spPr>
          <a:xfrm xmlns:a="http://schemas.openxmlformats.org/drawingml/2006/main">
            <a:off x="6858000" y="2209800"/>
            <a:ext cx="2095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0" name="sched-arrow-4"/>
          <p:cNvCxnSpPr/>
          <p:nvPr/>
        </p:nvCxnSpPr>
        <p:spPr>
          <a:xfrm xmlns:a="http://schemas.openxmlformats.org/drawingml/2006/main">
            <a:off x="9086850" y="2209800"/>
            <a:ext cx="2095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sched-running">
            <a:extLst xmlns:a="http://schemas.openxmlformats.org/drawingml/2006/main">
              <a:ext uri="{FF2B5EF4-FFF2-40B4-BE49-F238E27FC236}">
                <a16:creationId xmlns:a16="http://schemas.microsoft.com/office/drawing/2014/main" id="{306DE11D-3E4D-4543-81B6-4FB98303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000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sched-budget">
            <a:extLst xmlns:a="http://schemas.openxmlformats.org/drawingml/2006/main">
              <a:ext uri="{FF2B5EF4-FFF2-40B4-BE49-F238E27FC236}">
                <a16:creationId xmlns:a16="http://schemas.microsoft.com/office/drawing/2014/main" id="{6A44AE13-D5D8-4F0D-93B1-8E97A63C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24000"/>
            <a:ext cx="2000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hed-kv">
            <a:extLst xmlns:a="http://schemas.openxmlformats.org/drawingml/2006/main">
              <a:ext uri="{FF2B5EF4-FFF2-40B4-BE49-F238E27FC236}">
                <a16:creationId xmlns:a16="http://schemas.microsoft.com/office/drawing/2014/main" id="{30ABD530-0922-42B7-95E1-9015266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2000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hed-waiting">
            <a:extLst xmlns:a="http://schemas.openxmlformats.org/drawingml/2006/main">
              <a:ext uri="{FF2B5EF4-FFF2-40B4-BE49-F238E27FC236}">
                <a16:creationId xmlns:a16="http://schemas.microsoft.com/office/drawing/2014/main" id="{04F9C062-BFCD-4612-957B-FB810A02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24000"/>
            <a:ext cx="2000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hed-output">
            <a:extLst xmlns:a="http://schemas.openxmlformats.org/drawingml/2006/main">
              <a:ext uri="{FF2B5EF4-FFF2-40B4-BE49-F238E27FC236}">
                <a16:creationId xmlns:a16="http://schemas.microsoft.com/office/drawing/2014/main" id="{B980DD85-F470-4C41-9CC3-11B20C9C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2476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sched-running-title">
            <a:extLst xmlns:a="http://schemas.openxmlformats.org/drawingml/2006/main">
              <a:ext uri="{FF2B5EF4-FFF2-40B4-BE49-F238E27FC236}">
                <a16:creationId xmlns:a16="http://schemas.microsoft.com/office/drawing/2014/main" id="{90D6C0D1-9AE9-463A-BD21-2161B40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① RUNNING 优先</a:t>
            </a:r>
          </a:p>
        </p:txBody>
      </p:sp>
      <p:sp>
        <p:nvSpPr>
          <p:cNvPr id="13" name="sched-running-body">
            <a:extLst xmlns:a="http://schemas.openxmlformats.org/drawingml/2006/main">
              <a:ext uri="{FF2B5EF4-FFF2-40B4-BE49-F238E27FC236}">
                <a16:creationId xmlns:a16="http://schemas.microsoft.com/office/drawing/2014/main" id="{1A28349A-F905-4DFD-AD94-58D2F982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695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按 policy 顺序遍历</a:t>
            </a:r>
          </a:p>
        </p:txBody>
      </p:sp>
      <p:sp>
        <p:nvSpPr>
          <p:cNvPr id="14" name="sched-budget-title">
            <a:extLst xmlns:a="http://schemas.openxmlformats.org/drawingml/2006/main">
              <a:ext uri="{FF2B5EF4-FFF2-40B4-BE49-F238E27FC236}">
                <a16:creationId xmlns:a16="http://schemas.microsoft.com/office/drawing/2014/main" id="{2D62D221-C1BC-4325-B56C-6D662D53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1450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② 算 token 差额</a:t>
            </a:r>
          </a:p>
        </p:txBody>
      </p:sp>
      <p:sp>
        <p:nvSpPr>
          <p:cNvPr id="15" name="sched-budget-body">
            <a:extLst xmlns:a="http://schemas.openxmlformats.org/drawingml/2006/main">
              <a:ext uri="{FF2B5EF4-FFF2-40B4-BE49-F238E27FC236}">
                <a16:creationId xmlns:a16="http://schemas.microsoft.com/office/drawing/2014/main" id="{98F28B35-99B4-4D1F-A110-1F6CE796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14550"/>
            <a:ext cx="1695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min(total−computed,
token_budget)</a:t>
            </a:r>
          </a:p>
        </p:txBody>
      </p:sp>
      <p:sp>
        <p:nvSpPr>
          <p:cNvPr id="16" name="sched-kv-title">
            <a:extLst xmlns:a="http://schemas.openxmlformats.org/drawingml/2006/main">
              <a:ext uri="{FF2B5EF4-FFF2-40B4-BE49-F238E27FC236}">
                <a16:creationId xmlns:a16="http://schemas.microsoft.com/office/drawing/2014/main" id="{E7325FA6-A83C-4BEC-B9CC-A20D172D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1450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③ allocate_slots</a:t>
            </a:r>
          </a:p>
        </p:txBody>
      </p:sp>
      <p:sp>
        <p:nvSpPr>
          <p:cNvPr id="17" name="sched-kv-body">
            <a:extLst xmlns:a="http://schemas.openxmlformats.org/drawingml/2006/main">
              <a:ext uri="{FF2B5EF4-FFF2-40B4-BE49-F238E27FC236}">
                <a16:creationId xmlns:a16="http://schemas.microsoft.com/office/drawing/2014/main" id="{ED876D59-EB0E-4309-93F8-77EE9E49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1695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不足则按原策略 preempt</a:t>
            </a:r>
          </a:p>
        </p:txBody>
      </p:sp>
      <p:sp>
        <p:nvSpPr>
          <p:cNvPr id="18" name="sched-waiting-title">
            <a:extLst xmlns:a="http://schemas.openxmlformats.org/drawingml/2006/main">
              <a:ext uri="{FF2B5EF4-FFF2-40B4-BE49-F238E27FC236}">
                <a16:creationId xmlns:a16="http://schemas.microsoft.com/office/drawing/2014/main" id="{42D0D27B-04AC-4504-B00B-8847A762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④ 再取 WAITING</a:t>
            </a:r>
          </a:p>
        </p:txBody>
      </p:sp>
      <p:sp>
        <p:nvSpPr>
          <p:cNvPr id="19" name="sched-waiting-body">
            <a:extLst xmlns:a="http://schemas.openxmlformats.org/drawingml/2006/main">
              <a:ext uri="{FF2B5EF4-FFF2-40B4-BE49-F238E27FC236}">
                <a16:creationId xmlns:a16="http://schemas.microsoft.com/office/drawing/2014/main" id="{AFFBA28C-3D51-4AF4-A948-364B5562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695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受 request / token / KV / LoRA 约束</a:t>
            </a:r>
          </a:p>
        </p:txBody>
      </p:sp>
      <p:sp>
        <p:nvSpPr>
          <p:cNvPr id="20" name="sched-output-title">
            <a:extLst xmlns:a="http://schemas.openxmlformats.org/drawingml/2006/main">
              <a:ext uri="{FF2B5EF4-FFF2-40B4-BE49-F238E27FC236}">
                <a16:creationId xmlns:a16="http://schemas.microsoft.com/office/drawing/2014/main" id="{13C4B27B-CD60-4288-9956-FA09B008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217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⑤ SchedulerOutput</a:t>
            </a:r>
          </a:p>
        </p:txBody>
      </p:sp>
      <p:sp>
        <p:nvSpPr>
          <p:cNvPr id="21" name="sched-output-body">
            <a:extLst xmlns:a="http://schemas.openxmlformats.org/drawingml/2006/main">
              <a:ext uri="{FF2B5EF4-FFF2-40B4-BE49-F238E27FC236}">
                <a16:creationId xmlns:a16="http://schemas.microsoft.com/office/drawing/2014/main" id="{2C800DD7-BD05-4B9D-A610-037AAC3B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1455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num_scheduled_tokens
+ GR beam_data</a:t>
            </a:r>
          </a:p>
        </p:txBody>
      </p:sp>
      <p:sp>
        <p:nvSpPr>
          <p:cNvPr id="22" name="packed-budget-bg">
            <a:extLst xmlns:a="http://schemas.openxmlformats.org/drawingml/2006/main">
              <a:ext uri="{FF2B5EF4-FFF2-40B4-BE49-F238E27FC236}">
                <a16:creationId xmlns:a16="http://schemas.microsoft.com/office/drawing/2014/main" id="{A6DE64ED-A889-4973-ACC9-BE36CCD6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67437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cked-budget-title">
            <a:extLst xmlns:a="http://schemas.openxmlformats.org/drawingml/2006/main">
              <a:ext uri="{FF2B5EF4-FFF2-40B4-BE49-F238E27FC236}">
                <a16:creationId xmlns:a16="http://schemas.microsoft.com/office/drawing/2014/main" id="{B700DC3F-04E7-49D4-A684-6622454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628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一个 grouped request 在 Scheduler 看来仍是一条线性 token 序列</a:t>
            </a:r>
          </a:p>
        </p:txBody>
      </p:sp>
      <p:sp>
        <p:nvSpPr>
          <p:cNvPr id="24" name="packed-budget-prefix">
            <a:extLst xmlns:a="http://schemas.openxmlformats.org/drawingml/2006/main">
              <a:ext uri="{FF2B5EF4-FFF2-40B4-BE49-F238E27FC236}">
                <a16:creationId xmlns:a16="http://schemas.microsoft.com/office/drawing/2014/main" id="{8A297E75-6422-410E-B94C-91380DA0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packed-budget-s0">
            <a:extLst xmlns:a="http://schemas.openxmlformats.org/drawingml/2006/main">
              <a:ext uri="{FF2B5EF4-FFF2-40B4-BE49-F238E27FC236}">
                <a16:creationId xmlns:a16="http://schemas.microsoft.com/office/drawing/2014/main" id="{9F9D6DEA-0D95-47BB-8C50-550B25EE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38600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packed-budget-s1">
            <a:extLst xmlns:a="http://schemas.openxmlformats.org/drawingml/2006/main">
              <a:ext uri="{FF2B5EF4-FFF2-40B4-BE49-F238E27FC236}">
                <a16:creationId xmlns:a16="http://schemas.microsoft.com/office/drawing/2014/main" id="{A34ABB4C-03FA-4FA9-BB27-483B0AE8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packed-budget-s2">
            <a:extLst xmlns:a="http://schemas.openxmlformats.org/drawingml/2006/main">
              <a:ext uri="{FF2B5EF4-FFF2-40B4-BE49-F238E27FC236}">
                <a16:creationId xmlns:a16="http://schemas.microsoft.com/office/drawing/2014/main" id="{764E75F8-5183-46AD-8228-C4D87CD9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38600"/>
            <a:ext cx="108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packed-budget-sw">
            <a:extLst xmlns:a="http://schemas.openxmlformats.org/drawingml/2006/main">
              <a:ext uri="{FF2B5EF4-FFF2-40B4-BE49-F238E27FC236}">
                <a16:creationId xmlns:a16="http://schemas.microsoft.com/office/drawing/2014/main" id="{C6ED88BC-7190-4AFC-A4D9-53153E97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packed-budget-prefix-text">
            <a:extLst xmlns:a="http://schemas.openxmlformats.org/drawingml/2006/main">
              <a:ext uri="{FF2B5EF4-FFF2-40B4-BE49-F238E27FC236}">
                <a16:creationId xmlns:a16="http://schemas.microsoft.com/office/drawing/2014/main" id="{999B55FC-D60B-467B-BBB5-36569CBB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2266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cached P</a:t>
            </a:r>
          </a:p>
        </p:txBody>
      </p:sp>
      <p:sp>
        <p:nvSpPr>
          <p:cNvPr id="30" name="packed-budget-s0-text">
            <a:extLst xmlns:a="http://schemas.openxmlformats.org/drawingml/2006/main">
              <a:ext uri="{FF2B5EF4-FFF2-40B4-BE49-F238E27FC236}">
                <a16:creationId xmlns:a16="http://schemas.microsoft.com/office/drawing/2014/main" id="{EE6747F3-935E-4A23-82AE-C706B48F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81475"/>
            <a:ext cx="108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S₀</a:t>
            </a:r>
          </a:p>
        </p:txBody>
      </p:sp>
      <p:sp>
        <p:nvSpPr>
          <p:cNvPr id="31" name="packed-budget-s1-text">
            <a:extLst xmlns:a="http://schemas.openxmlformats.org/drawingml/2006/main">
              <a:ext uri="{FF2B5EF4-FFF2-40B4-BE49-F238E27FC236}">
                <a16:creationId xmlns:a16="http://schemas.microsoft.com/office/drawing/2014/main" id="{85595FED-4AA9-4DC1-A507-F3C5F6E2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81475"/>
            <a:ext cx="108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S₁</a:t>
            </a:r>
          </a:p>
        </p:txBody>
      </p:sp>
      <p:sp>
        <p:nvSpPr>
          <p:cNvPr id="32" name="packed-budget-s2-text">
            <a:extLst xmlns:a="http://schemas.openxmlformats.org/drawingml/2006/main">
              <a:ext uri="{FF2B5EF4-FFF2-40B4-BE49-F238E27FC236}">
                <a16:creationId xmlns:a16="http://schemas.microsoft.com/office/drawing/2014/main" id="{FE939E31-385A-4728-84A7-23396F3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81475"/>
            <a:ext cx="108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S₂</a:t>
            </a:r>
          </a:p>
        </p:txBody>
      </p:sp>
      <p:sp>
        <p:nvSpPr>
          <p:cNvPr id="33" name="packed-budget-sw-text">
            <a:extLst xmlns:a="http://schemas.openxmlformats.org/drawingml/2006/main">
              <a:ext uri="{FF2B5EF4-FFF2-40B4-BE49-F238E27FC236}">
                <a16:creationId xmlns:a16="http://schemas.microsoft.com/office/drawing/2014/main" id="{999E033B-D50F-40DC-9D97-CCB32226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1475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…</a:t>
            </a:r>
          </a:p>
        </p:txBody>
      </p:sp>
      <p:cxnSp>
        <p:nvCxnSpPr>
          <p:cNvPr id="78" name="packed-chunk-budget"/>
          <p:cNvCxnSpPr/>
          <p:nvPr/>
        </p:nvCxnSpPr>
        <p:spPr>
          <a:xfrm xmlns:a="http://schemas.openxmlformats.org/drawingml/2006/main">
            <a:off x="3009900" y="4781550"/>
            <a:ext cx="29146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59E0B"/>
            </a:solidFill>
            <a:prstDash val="solid"/>
          </a:ln>
        </p:spPr>
      </p:cxnSp>
      <p:sp>
        <p:nvSpPr>
          <p:cNvPr id="35" name="packed-chunk-budget-text">
            <a:extLst xmlns:a="http://schemas.openxmlformats.org/drawingml/2006/main">
              <a:ext uri="{FF2B5EF4-FFF2-40B4-BE49-F238E27FC236}">
                <a16:creationId xmlns:a16="http://schemas.microsoft.com/office/drawing/2014/main" id="{E8EE129E-1FAD-4231-B36C-B17214F1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609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t>本轮 chunk budget 可跨 beam，也可停在某条 suffix 中间</a:t>
            </a:r>
          </a:p>
        </p:txBody>
      </p:sp>
      <p:sp>
        <p:nvSpPr>
          <p:cNvPr id="36" name="gr-hook-cache">
            <a:extLst xmlns:a="http://schemas.openxmlformats.org/drawingml/2006/main">
              <a:ext uri="{FF2B5EF4-FFF2-40B4-BE49-F238E27FC236}">
                <a16:creationId xmlns:a16="http://schemas.microsoft.com/office/drawing/2014/main" id="{2C0BA555-7E66-4CD6-89B9-19A3C66E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7" name="gr-hook-metadata">
            <a:extLst xmlns:a="http://schemas.openxmlformats.org/drawingml/2006/main">
              <a:ext uri="{FF2B5EF4-FFF2-40B4-BE49-F238E27FC236}">
                <a16:creationId xmlns:a16="http://schemas.microsoft.com/office/drawing/2014/main" id="{3B21A4CB-C2E2-46DC-A4E2-C6A76982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386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gr-hook-cache-title">
            <a:extLst xmlns:a="http://schemas.openxmlformats.org/drawingml/2006/main">
              <a:ext uri="{FF2B5EF4-FFF2-40B4-BE49-F238E27FC236}">
                <a16:creationId xmlns:a16="http://schemas.microsoft.com/office/drawing/2014/main" id="{FD5B1612-6278-4D88-8212-7775552B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48050"/>
            <a:ext cx="363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GR Hook A · 限制 KV 命中</a:t>
            </a:r>
          </a:p>
        </p:txBody>
      </p:sp>
      <p:sp>
        <p:nvSpPr>
          <p:cNvPr id="39" name="gr-hook-cache-body">
            <a:extLst xmlns:a="http://schemas.openxmlformats.org/drawingml/2006/main">
              <a:ext uri="{FF2B5EF4-FFF2-40B4-BE49-F238E27FC236}">
                <a16:creationId xmlns:a16="http://schemas.microsoft.com/office/drawing/2014/main" id="{0C86B305-5FE6-42F0-B0A9-62F9C1C4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3638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命中最多到 floor(prefix/block)×block；beam suffix 不复用。</a:t>
            </a:r>
          </a:p>
        </p:txBody>
      </p:sp>
      <p:sp>
        <p:nvSpPr>
          <p:cNvPr id="40" name="gr-hook-metadata-title">
            <a:extLst xmlns:a="http://schemas.openxmlformats.org/drawingml/2006/main">
              <a:ext uri="{FF2B5EF4-FFF2-40B4-BE49-F238E27FC236}">
                <a16:creationId xmlns:a16="http://schemas.microsoft.com/office/drawing/2014/main" id="{C56B895A-4CDA-4351-AA7E-97310C63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0100"/>
            <a:ext cx="363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GR Hook B · 透传执行几何</a:t>
            </a:r>
          </a:p>
        </p:txBody>
      </p:sp>
      <p:sp>
        <p:nvSpPr>
          <p:cNvPr id="41" name="gr-hook-metadata-body">
            <a:extLst xmlns:a="http://schemas.openxmlformats.org/drawingml/2006/main">
              <a:ext uri="{FF2B5EF4-FFF2-40B4-BE49-F238E27FC236}">
                <a16:creationId xmlns:a16="http://schemas.microsoft.com/office/drawing/2014/main" id="{6C31529F-7912-43B2-BA29-736AD834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91100"/>
            <a:ext cx="363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beam_width / decode_steps / prefix_len / cache_len → Runner 与 BeamAttention</a:t>
            </a:r>
          </a:p>
        </p:txBody>
      </p:sp>
      <p:sp>
        <p:nvSpPr>
          <p:cNvPr id="42" name="scheduler-takeaway">
            <a:extLst xmlns:a="http://schemas.openxmlformats.org/drawingml/2006/main">
              <a:ext uri="{FF2B5EF4-FFF2-40B4-BE49-F238E27FC236}">
                <a16:creationId xmlns:a16="http://schemas.microsoft.com/office/drawing/2014/main" id="{D967039E-EA87-4398-A711-FCE57B22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结论：beam_width 不直接增加调度 request 数，但会扩大 packed token 工作量与 KV 占用。</a:t>
            </a:r>
          </a:p>
        </p:txBody>
      </p:sp>
      <p:sp>
        <p:nvSpPr>
          <p:cNvPr id="43" name="slide-11-source">
            <a:extLst xmlns:a="http://schemas.openxmlformats.org/drawingml/2006/main">
              <a:ext uri="{FF2B5EF4-FFF2-40B4-BE49-F238E27FC236}">
                <a16:creationId xmlns:a16="http://schemas.microsoft.com/office/drawing/2014/main" id="{50C7E6EA-A45D-494C-8823-A7084742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代码：vLLM scheduler.py:329–498, 544–803 · engine_core_patch.py:273–350</a:t>
            </a:r>
          </a:p>
        </p:txBody>
      </p:sp>
      <p:sp>
        <p:nvSpPr>
          <p:cNvPr id="44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EFEC0BCA-1302-4FF2-A6FC-3CA8B3D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11</a:t>
            </a:r>
          </a:p>
        </p:txBody>
      </p:sp>
    </p:spTree>
    <p:extLst>
      <p:ext uri="{BB962C8B-B14F-4D97-AF65-F5344CB8AC3E}">
        <p14:creationId xmlns:p14="http://schemas.microsoft.com/office/powerpoint/2010/main" val="3238597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5E539725-C8C2-41BF-B208-E9F62AD3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KV 生命周期：一份共享前缀，多条连续后缀</a:t>
            </a:r>
          </a:p>
        </p:txBody>
      </p:sp>
      <p:cxnSp>
        <p:nvCxnSpPr>
          <p:cNvPr id="28" name="slide-12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kv-step0-title">
            <a:extLst xmlns:a="http://schemas.openxmlformats.org/drawingml/2006/main">
              <a:ext uri="{FF2B5EF4-FFF2-40B4-BE49-F238E27FC236}">
                <a16:creationId xmlns:a16="http://schemas.microsoft.com/office/drawing/2014/main" id="{CB8EBB5B-92E1-48A4-A2FE-A762DD07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Step 0 · Prefill</a:t>
            </a:r>
          </a:p>
        </p:txBody>
      </p:sp>
      <p:sp>
        <p:nvSpPr>
          <p:cNvPr id="4" name="prefill-bar">
            <a:extLst xmlns:a="http://schemas.openxmlformats.org/drawingml/2006/main">
              <a:ext uri="{FF2B5EF4-FFF2-40B4-BE49-F238E27FC236}">
                <a16:creationId xmlns:a16="http://schemas.microsoft.com/office/drawing/2014/main" id="{7C29E9F8-2ACC-41FB-A0F8-DBB2832E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prefill-bar-text">
            <a:extLst xmlns:a="http://schemas.openxmlformats.org/drawingml/2006/main">
              <a:ext uri="{FF2B5EF4-FFF2-40B4-BE49-F238E27FC236}">
                <a16:creationId xmlns:a16="http://schemas.microsoft.com/office/drawing/2014/main" id="{B6202418-472E-46B9-85CA-5B6ED364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365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标准 Request：共享前缀 P</a:t>
            </a:r>
          </a:p>
        </p:txBody>
      </p:sp>
      <p:sp>
        <p:nvSpPr>
          <p:cNvPr id="6" name="prefill-desc">
            <a:extLst xmlns:a="http://schemas.openxmlformats.org/drawingml/2006/main">
              <a:ext uri="{FF2B5EF4-FFF2-40B4-BE49-F238E27FC236}">
                <a16:creationId xmlns:a16="http://schemas.microsoft.com/office/drawing/2014/main" id="{C5F81E0B-C619-4FE6-AC8C-D5786C4D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EngineCore 将 prefill 的 token、block_hashes 等写入 beam_cache[session]。</a:t>
            </a:r>
          </a:p>
        </p:txBody>
      </p:sp>
      <p:sp>
        <p:nvSpPr>
          <p:cNvPr id="7" name="kv-stept-title">
            <a:extLst xmlns:a="http://schemas.openxmlformats.org/drawingml/2006/main">
              <a:ext uri="{FF2B5EF4-FFF2-40B4-BE49-F238E27FC236}">
                <a16:creationId xmlns:a16="http://schemas.microsoft.com/office/drawing/2014/main" id="{AF0A17DB-3FAB-43F0-8CCD-D1C0F7E5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47800"/>
            <a:ext cx="400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Step t &gt; 0 · Grouped decode</a:t>
            </a:r>
          </a:p>
        </p:txBody>
      </p:sp>
      <p:sp>
        <p:nvSpPr>
          <p:cNvPr id="8" name="packed-prefix">
            <a:extLst xmlns:a="http://schemas.openxmlformats.org/drawingml/2006/main">
              <a:ext uri="{FF2B5EF4-FFF2-40B4-BE49-F238E27FC236}">
                <a16:creationId xmlns:a16="http://schemas.microsoft.com/office/drawing/2014/main" id="{08BA5C17-B607-46C6-93B6-6531DA21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431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packed-s0">
            <a:extLst xmlns:a="http://schemas.openxmlformats.org/drawingml/2006/main">
              <a:ext uri="{FF2B5EF4-FFF2-40B4-BE49-F238E27FC236}">
                <a16:creationId xmlns:a16="http://schemas.microsoft.com/office/drawing/2014/main" id="{CE6220F7-796C-4914-A587-AF3131D1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78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acked-s1">
            <a:extLst xmlns:a="http://schemas.openxmlformats.org/drawingml/2006/main">
              <a:ext uri="{FF2B5EF4-FFF2-40B4-BE49-F238E27FC236}">
                <a16:creationId xmlns:a16="http://schemas.microsoft.com/office/drawing/2014/main" id="{69B3107D-7312-4112-9679-041CCAB7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43100"/>
            <a:ext cx="78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acked-dots">
            <a:extLst xmlns:a="http://schemas.openxmlformats.org/drawingml/2006/main">
              <a:ext uri="{FF2B5EF4-FFF2-40B4-BE49-F238E27FC236}">
                <a16:creationId xmlns:a16="http://schemas.microsoft.com/office/drawing/2014/main" id="{320996E7-0512-4217-B877-7A20641D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55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acked-sw">
            <a:extLst xmlns:a="http://schemas.openxmlformats.org/drawingml/2006/main">
              <a:ext uri="{FF2B5EF4-FFF2-40B4-BE49-F238E27FC236}">
                <a16:creationId xmlns:a16="http://schemas.microsoft.com/office/drawing/2014/main" id="{891E6F6E-C180-45B9-8CB3-397E2927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43100"/>
            <a:ext cx="91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packed-prefix-text">
            <a:extLst xmlns:a="http://schemas.openxmlformats.org/drawingml/2006/main">
              <a:ext uri="{FF2B5EF4-FFF2-40B4-BE49-F238E27FC236}">
                <a16:creationId xmlns:a16="http://schemas.microsoft.com/office/drawing/2014/main" id="{5A51CAFD-E91E-4CD6-8843-E735E775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9550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P</a:t>
            </a:r>
          </a:p>
        </p:txBody>
      </p:sp>
      <p:sp>
        <p:nvSpPr>
          <p:cNvPr id="14" name="packed-s0-text">
            <a:extLst xmlns:a="http://schemas.openxmlformats.org/drawingml/2006/main">
              <a:ext uri="{FF2B5EF4-FFF2-40B4-BE49-F238E27FC236}">
                <a16:creationId xmlns:a16="http://schemas.microsoft.com/office/drawing/2014/main" id="{AEF4DBB6-0695-42DF-AE9C-5946C7D1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78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S₀</a:t>
            </a:r>
          </a:p>
        </p:txBody>
      </p:sp>
      <p:sp>
        <p:nvSpPr>
          <p:cNvPr id="15" name="packed-s1-text">
            <a:extLst xmlns:a="http://schemas.openxmlformats.org/drawingml/2006/main">
              <a:ext uri="{FF2B5EF4-FFF2-40B4-BE49-F238E27FC236}">
                <a16:creationId xmlns:a16="http://schemas.microsoft.com/office/drawing/2014/main" id="{ECD12807-7195-4B20-A130-8479F5B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78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S₁</a:t>
            </a:r>
          </a:p>
        </p:txBody>
      </p:sp>
      <p:sp>
        <p:nvSpPr>
          <p:cNvPr id="16" name="packed-dots-text">
            <a:extLst xmlns:a="http://schemas.openxmlformats.org/drawingml/2006/main">
              <a:ext uri="{FF2B5EF4-FFF2-40B4-BE49-F238E27FC236}">
                <a16:creationId xmlns:a16="http://schemas.microsoft.com/office/drawing/2014/main" id="{35DEA135-B5EF-4954-AF3A-EA4E9E2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76450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…</a:t>
            </a:r>
          </a:p>
        </p:txBody>
      </p:sp>
      <p:sp>
        <p:nvSpPr>
          <p:cNvPr id="17" name="packed-sw-text">
            <a:extLst xmlns:a="http://schemas.openxmlformats.org/drawingml/2006/main">
              <a:ext uri="{FF2B5EF4-FFF2-40B4-BE49-F238E27FC236}">
                <a16:creationId xmlns:a16="http://schemas.microsoft.com/office/drawing/2014/main" id="{3815A169-18D0-45B8-9252-2155C66F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95500"/>
            <a:ext cx="914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Sᵂ⁻¹</a:t>
            </a:r>
          </a:p>
        </p:txBody>
      </p:sp>
      <p:sp>
        <p:nvSpPr>
          <p:cNvPr id="18" name="packed-desc">
            <a:extLst xmlns:a="http://schemas.openxmlformats.org/drawingml/2006/main">
              <a:ext uri="{FF2B5EF4-FFF2-40B4-BE49-F238E27FC236}">
                <a16:creationId xmlns:a16="http://schemas.microsoft.com/office/drawing/2014/main" id="{217AC9FA-2E48-4A71-9322-5E8F99FC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24150"/>
            <a:ext cx="561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beam_decode_steps = |Sᵢ|；所有 Sᵢ 长度必须相等</a:t>
            </a:r>
          </a:p>
        </p:txBody>
      </p:sp>
      <p:cxnSp>
        <p:nvCxnSpPr>
          <p:cNvPr id="45" name="kv-divider"/>
          <p:cNvCxnSpPr/>
          <p:nvPr/>
        </p:nvCxnSpPr>
        <p:spPr>
          <a:xfrm xmlns:a="http://schemas.openxmlformats.org/drawingml/2006/main">
            <a:off x="552450" y="3676650"/>
            <a:ext cx="111061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scheduler-guard-title">
            <a:extLst xmlns:a="http://schemas.openxmlformats.org/drawingml/2006/main">
              <a:ext uri="{FF2B5EF4-FFF2-40B4-BE49-F238E27FC236}">
                <a16:creationId xmlns:a16="http://schemas.microsoft.com/office/drawing/2014/main" id="{4E8A1F99-AE96-4B39-8776-936FA56A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Scheduler 的关键保护</a:t>
            </a:r>
          </a:p>
        </p:txBody>
      </p:sp>
      <p:sp>
        <p:nvSpPr>
          <p:cNvPr id="21" name="scheduler-guard-bg">
            <a:extLst xmlns:a="http://schemas.openxmlformats.org/drawingml/2006/main">
              <a:ext uri="{FF2B5EF4-FFF2-40B4-BE49-F238E27FC236}">
                <a16:creationId xmlns:a16="http://schemas.microsoft.com/office/drawing/2014/main" id="{C40773F0-F2CA-4881-AF27-C48BCD86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106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heduler-guard-formula">
            <a:extLst xmlns:a="http://schemas.openxmlformats.org/drawingml/2006/main">
              <a:ext uri="{FF2B5EF4-FFF2-40B4-BE49-F238E27FC236}">
                <a16:creationId xmlns:a16="http://schemas.microsoft.com/office/drawing/2014/main" id="{ADBE3B15-62B1-4CB2-A02D-29B7CECE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648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computed KV 命中长度若越过 prefix，会被截回  floor(prefix_len / block_size) × block_size</a:t>
            </a:r>
          </a:p>
        </p:txBody>
      </p:sp>
      <p:sp>
        <p:nvSpPr>
          <p:cNvPr id="23" name="scheduler-guard-desc">
            <a:extLst xmlns:a="http://schemas.openxmlformats.org/drawingml/2006/main">
              <a:ext uri="{FF2B5EF4-FFF2-40B4-BE49-F238E27FC236}">
                <a16:creationId xmlns:a16="http://schemas.microsoft.com/office/drawing/2014/main" id="{68136817-71B9-479F-9147-7727C83E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648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含义：只允许 block-aligned 共享前缀复用；不能把上一轮某条 beam 的 suffix 错认成所有新 beam 的共享缓存。</a:t>
            </a:r>
          </a:p>
        </p:txBody>
      </p:sp>
      <p:sp>
        <p:nvSpPr>
          <p:cNvPr id="24" name="kv-takeaway">
            <a:extLst xmlns:a="http://schemas.openxmlformats.org/drawingml/2006/main">
              <a:ext uri="{FF2B5EF4-FFF2-40B4-BE49-F238E27FC236}">
                <a16:creationId xmlns:a16="http://schemas.microsoft.com/office/drawing/2014/main" id="{8B7222F3-F509-40D7-A638-D296BC6F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1106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parent_beam_ids → child_beam_ids / pruned_ids 只用于控制状态；实际 GPU 请求 ID 仍是 session_id。</a:t>
            </a:r>
          </a:p>
        </p:txBody>
      </p:sp>
      <p:sp>
        <p:nvSpPr>
          <p:cNvPr id="25" name="slide-12-source">
            <a:extLst xmlns:a="http://schemas.openxmlformats.org/drawingml/2006/main">
              <a:ext uri="{FF2B5EF4-FFF2-40B4-BE49-F238E27FC236}">
                <a16:creationId xmlns:a16="http://schemas.microsoft.com/office/drawing/2014/main" id="{CFA2FF25-D35C-44C7-B236-3DF22FAB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代码：v1/engine/core.py:116–203 · engine_core_patch.py:317–348</a:t>
            </a:r>
          </a:p>
        </p:txBody>
      </p:sp>
      <p:sp>
        <p:nvSpPr>
          <p:cNvPr id="26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8F1DEE3D-71DA-4844-BC8B-00C8331D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12</a:t>
            </a:r>
          </a:p>
        </p:txBody>
      </p:sp>
    </p:spTree>
    <p:extLst>
      <p:ext uri="{BB962C8B-B14F-4D97-AF65-F5344CB8AC3E}">
        <p14:creationId xmlns:p14="http://schemas.microsoft.com/office/powerpoint/2010/main" val="664883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8FBB4CD5-63BD-4587-A8C7-7C051A3F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GPU Runner：逻辑 session ⇄ W 条 logits 行</a:t>
            </a:r>
          </a:p>
        </p:txBody>
      </p:sp>
      <p:cxnSp>
        <p:nvCxnSpPr>
          <p:cNvPr id="52" name="slide-13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53" name="runner-arrow-1"/>
          <p:cNvCxnSpPr/>
          <p:nvPr/>
        </p:nvCxnSpPr>
        <p:spPr>
          <a:xfrm xmlns:a="http://schemas.openxmlformats.org/drawingml/2006/main">
            <a:off x="2266950" y="3314700"/>
            <a:ext cx="9906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4" name="runner-arrow-2"/>
          <p:cNvCxnSpPr/>
          <p:nvPr/>
        </p:nvCxnSpPr>
        <p:spPr>
          <a:xfrm xmlns:a="http://schemas.openxmlformats.org/drawingml/2006/main">
            <a:off x="5067300" y="3314700"/>
            <a:ext cx="8953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5" name="runner-arrow-3"/>
          <p:cNvCxnSpPr/>
          <p:nvPr/>
        </p:nvCxnSpPr>
        <p:spPr>
          <a:xfrm xmlns:a="http://schemas.openxmlformats.org/drawingml/2006/main">
            <a:off x="7048500" y="3314700"/>
            <a:ext cx="4953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6" name="runner-arrow-4"/>
          <p:cNvCxnSpPr/>
          <p:nvPr/>
        </p:nvCxnSpPr>
        <p:spPr>
          <a:xfrm xmlns:a="http://schemas.openxmlformats.org/drawingml/2006/main">
            <a:off x="9429750" y="3314700"/>
            <a:ext cx="5524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logical-request">
            <a:extLst xmlns:a="http://schemas.openxmlformats.org/drawingml/2006/main">
              <a:ext uri="{FF2B5EF4-FFF2-40B4-BE49-F238E27FC236}">
                <a16:creationId xmlns:a16="http://schemas.microsoft.com/office/drawing/2014/main" id="{A52EFDCC-AE64-4C58-B803-F0417283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logical-row-title">
            <a:extLst xmlns:a="http://schemas.openxmlformats.org/drawingml/2006/main">
              <a:ext uri="{FF2B5EF4-FFF2-40B4-BE49-F238E27FC236}">
                <a16:creationId xmlns:a16="http://schemas.microsoft.com/office/drawing/2014/main" id="{5F2C107B-4129-4786-BB40-192C40DA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1 logical row</a:t>
            </a:r>
          </a:p>
        </p:txBody>
      </p:sp>
      <p:sp>
        <p:nvSpPr>
          <p:cNvPr id="9" name="logical-row-body">
            <a:extLst xmlns:a="http://schemas.openxmlformats.org/drawingml/2006/main">
              <a:ext uri="{FF2B5EF4-FFF2-40B4-BE49-F238E27FC236}">
                <a16:creationId xmlns:a16="http://schemas.microsoft.com/office/drawing/2014/main" id="{8970797C-B1CD-4ECA-B3EC-80E3275F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37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session_id
seq_len = packed</a:t>
            </a:r>
          </a:p>
        </p:txBody>
      </p:sp>
      <p:sp>
        <p:nvSpPr>
          <p:cNvPr id="10" name="expanded-rows-bg">
            <a:extLst xmlns:a="http://schemas.openxmlformats.org/drawingml/2006/main">
              <a:ext uri="{FF2B5EF4-FFF2-40B4-BE49-F238E27FC236}">
                <a16:creationId xmlns:a16="http://schemas.microsoft.com/office/drawing/2014/main" id="{F2809692-61CC-4081-831A-78824882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38350"/>
            <a:ext cx="18097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map-title">
            <a:extLst xmlns:a="http://schemas.openxmlformats.org/drawingml/2006/main">
              <a:ext uri="{FF2B5EF4-FFF2-40B4-BE49-F238E27FC236}">
                <a16:creationId xmlns:a16="http://schemas.microsoft.com/office/drawing/2014/main" id="{7864A159-198E-4F18-A468-BBB8A41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1543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_beam_remap_inputs</a:t>
            </a:r>
          </a:p>
        </p:txBody>
      </p:sp>
      <p:sp>
        <p:nvSpPr>
          <p:cNvPr id="12" name="row0">
            <a:extLst xmlns:a="http://schemas.openxmlformats.org/drawingml/2006/main">
              <a:ext uri="{FF2B5EF4-FFF2-40B4-BE49-F238E27FC236}">
                <a16:creationId xmlns:a16="http://schemas.microsoft.com/office/drawing/2014/main" id="{1F57A512-5101-4159-A091-B05065B2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ow1">
            <a:extLst xmlns:a="http://schemas.openxmlformats.org/drawingml/2006/main">
              <a:ext uri="{FF2B5EF4-FFF2-40B4-BE49-F238E27FC236}">
                <a16:creationId xmlns:a16="http://schemas.microsoft.com/office/drawing/2014/main" id="{45B569BA-5F50-45C0-95CE-D43F8F3A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242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row2">
            <a:extLst xmlns:a="http://schemas.openxmlformats.org/drawingml/2006/main">
              <a:ext uri="{FF2B5EF4-FFF2-40B4-BE49-F238E27FC236}">
                <a16:creationId xmlns:a16="http://schemas.microsoft.com/office/drawing/2014/main" id="{C0A1C49A-DD46-4830-BA6D-EBEA111A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roww">
            <a:extLst xmlns:a="http://schemas.openxmlformats.org/drawingml/2006/main">
              <a:ext uri="{FF2B5EF4-FFF2-40B4-BE49-F238E27FC236}">
                <a16:creationId xmlns:a16="http://schemas.microsoft.com/office/drawing/2014/main" id="{451865A2-4B19-42BA-9FB7-D3B959A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row0t">
            <a:extLst xmlns:a="http://schemas.openxmlformats.org/drawingml/2006/main">
              <a:ext uri="{FF2B5EF4-FFF2-40B4-BE49-F238E27FC236}">
                <a16:creationId xmlns:a16="http://schemas.microsoft.com/office/drawing/2014/main" id="{84C83914-18ED-49EE-9FB4-55A1A11F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beam 0</a:t>
            </a:r>
          </a:p>
        </p:txBody>
      </p:sp>
      <p:sp>
        <p:nvSpPr>
          <p:cNvPr id="17" name="row1t">
            <a:extLst xmlns:a="http://schemas.openxmlformats.org/drawingml/2006/main">
              <a:ext uri="{FF2B5EF4-FFF2-40B4-BE49-F238E27FC236}">
                <a16:creationId xmlns:a16="http://schemas.microsoft.com/office/drawing/2014/main" id="{AA7D942E-FB14-4B3C-A9EF-7213E6DE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beam 1</a:t>
            </a:r>
          </a:p>
        </p:txBody>
      </p:sp>
      <p:sp>
        <p:nvSpPr>
          <p:cNvPr id="18" name="row2t">
            <a:extLst xmlns:a="http://schemas.openxmlformats.org/drawingml/2006/main">
              <a:ext uri="{FF2B5EF4-FFF2-40B4-BE49-F238E27FC236}">
                <a16:creationId xmlns:a16="http://schemas.microsoft.com/office/drawing/2014/main" id="{22ADC460-7734-48B0-BBC4-8633EE33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…</a:t>
            </a:r>
          </a:p>
        </p:txBody>
      </p:sp>
      <p:sp>
        <p:nvSpPr>
          <p:cNvPr id="19" name="rowwt">
            <a:extLst xmlns:a="http://schemas.openxmlformats.org/drawingml/2006/main">
              <a:ext uri="{FF2B5EF4-FFF2-40B4-BE49-F238E27FC236}">
                <a16:creationId xmlns:a16="http://schemas.microsoft.com/office/drawing/2014/main" id="{2F09BFAA-C3E2-4705-ACB1-8CFD7A02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beam W−1</a:t>
            </a:r>
          </a:p>
        </p:txBody>
      </p:sp>
      <p:sp>
        <p:nvSpPr>
          <p:cNvPr id="20" name="gpu-model">
            <a:extLst xmlns:a="http://schemas.openxmlformats.org/drawingml/2006/main">
              <a:ext uri="{FF2B5EF4-FFF2-40B4-BE49-F238E27FC236}">
                <a16:creationId xmlns:a16="http://schemas.microsoft.com/office/drawing/2014/main" id="{5EBD7DBC-49F8-4B88-ABF6-37D77A86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1200150" cy="1638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pu-model-title">
            <a:extLst xmlns:a="http://schemas.openxmlformats.org/drawingml/2006/main">
              <a:ext uri="{FF2B5EF4-FFF2-40B4-BE49-F238E27FC236}">
                <a16:creationId xmlns:a16="http://schemas.microsoft.com/office/drawing/2014/main" id="{F74E7140-3708-49C9-B3E9-337192B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819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GPU</a:t>
            </a:r>
          </a:p>
        </p:txBody>
      </p:sp>
      <p:sp>
        <p:nvSpPr>
          <p:cNvPr id="22" name="gpu-model-body">
            <a:extLst xmlns:a="http://schemas.openxmlformats.org/drawingml/2006/main">
              <a:ext uri="{FF2B5EF4-FFF2-40B4-BE49-F238E27FC236}">
                <a16:creationId xmlns:a16="http://schemas.microsoft.com/office/drawing/2014/main" id="{47D243AD-D7AB-40BD-BE09-B829A4C9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895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Model
Forward</a:t>
            </a:r>
          </a:p>
        </p:txBody>
      </p:sp>
      <p:sp>
        <p:nvSpPr>
          <p:cNvPr id="23" name="candidate-0-0">
            <a:extLst xmlns:a="http://schemas.openxmlformats.org/drawingml/2006/main">
              <a:ext uri="{FF2B5EF4-FFF2-40B4-BE49-F238E27FC236}">
                <a16:creationId xmlns:a16="http://schemas.microsoft.com/office/drawing/2014/main" id="{3EA702A6-4E5D-4107-B108-1EBD934F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candidate-0-1">
            <a:extLst xmlns:a="http://schemas.openxmlformats.org/drawingml/2006/main">
              <a:ext uri="{FF2B5EF4-FFF2-40B4-BE49-F238E27FC236}">
                <a16:creationId xmlns:a16="http://schemas.microsoft.com/office/drawing/2014/main" id="{C919CCEE-903C-4639-A133-7ADBC41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candidate-0-2">
            <a:extLst xmlns:a="http://schemas.openxmlformats.org/drawingml/2006/main">
              <a:ext uri="{FF2B5EF4-FFF2-40B4-BE49-F238E27FC236}">
                <a16:creationId xmlns:a16="http://schemas.microsoft.com/office/drawing/2014/main" id="{F2C817BB-7F51-4DBE-85B6-AD380EE8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candidate-0-3">
            <a:extLst xmlns:a="http://schemas.openxmlformats.org/drawingml/2006/main">
              <a:ext uri="{FF2B5EF4-FFF2-40B4-BE49-F238E27FC236}">
                <a16:creationId xmlns:a16="http://schemas.microsoft.com/office/drawing/2014/main" id="{11A84035-DC94-4C41-827A-52F1A39C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candidate-0-4">
            <a:extLst xmlns:a="http://schemas.openxmlformats.org/drawingml/2006/main">
              <a:ext uri="{FF2B5EF4-FFF2-40B4-BE49-F238E27FC236}">
                <a16:creationId xmlns:a16="http://schemas.microsoft.com/office/drawing/2014/main" id="{309CC49D-0AF2-4B72-963D-80F157AE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candidate-1-0">
            <a:extLst xmlns:a="http://schemas.openxmlformats.org/drawingml/2006/main">
              <a:ext uri="{FF2B5EF4-FFF2-40B4-BE49-F238E27FC236}">
                <a16:creationId xmlns:a16="http://schemas.microsoft.com/office/drawing/2014/main" id="{198339AA-3E22-43CA-9DC4-EB817DCC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52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candidate-1-1">
            <a:extLst xmlns:a="http://schemas.openxmlformats.org/drawingml/2006/main">
              <a:ext uri="{FF2B5EF4-FFF2-40B4-BE49-F238E27FC236}">
                <a16:creationId xmlns:a16="http://schemas.microsoft.com/office/drawing/2014/main" id="{A0AE57AD-0959-4307-8467-16909BF5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352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candidate-1-2">
            <a:extLst xmlns:a="http://schemas.openxmlformats.org/drawingml/2006/main">
              <a:ext uri="{FF2B5EF4-FFF2-40B4-BE49-F238E27FC236}">
                <a16:creationId xmlns:a16="http://schemas.microsoft.com/office/drawing/2014/main" id="{4DAE4836-48C3-40FD-A331-A9BBD32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52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candidate-1-3">
            <a:extLst xmlns:a="http://schemas.openxmlformats.org/drawingml/2006/main">
              <a:ext uri="{FF2B5EF4-FFF2-40B4-BE49-F238E27FC236}">
                <a16:creationId xmlns:a16="http://schemas.microsoft.com/office/drawing/2014/main" id="{FA5F13E5-2B76-455C-A466-ADA23BC7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52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candidate-1-4">
            <a:extLst xmlns:a="http://schemas.openxmlformats.org/drawingml/2006/main">
              <a:ext uri="{FF2B5EF4-FFF2-40B4-BE49-F238E27FC236}">
                <a16:creationId xmlns:a16="http://schemas.microsoft.com/office/drawing/2014/main" id="{A8079398-11E5-4D91-9A34-63FBD8B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352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candidate-2-0">
            <a:extLst xmlns:a="http://schemas.openxmlformats.org/drawingml/2006/main">
              <a:ext uri="{FF2B5EF4-FFF2-40B4-BE49-F238E27FC236}">
                <a16:creationId xmlns:a16="http://schemas.microsoft.com/office/drawing/2014/main" id="{FFDF54A0-58F1-46E0-888B-C3CC0314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candidate-2-1">
            <a:extLst xmlns:a="http://schemas.openxmlformats.org/drawingml/2006/main">
              <a:ext uri="{FF2B5EF4-FFF2-40B4-BE49-F238E27FC236}">
                <a16:creationId xmlns:a16="http://schemas.microsoft.com/office/drawing/2014/main" id="{CE92779E-22E0-4409-830E-DFEEA977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candidate-2-2">
            <a:extLst xmlns:a="http://schemas.openxmlformats.org/drawingml/2006/main">
              <a:ext uri="{FF2B5EF4-FFF2-40B4-BE49-F238E27FC236}">
                <a16:creationId xmlns:a16="http://schemas.microsoft.com/office/drawing/2014/main" id="{69B0F729-4236-4638-9C5C-CB1A76DB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candidate-2-3">
            <a:extLst xmlns:a="http://schemas.openxmlformats.org/drawingml/2006/main">
              <a:ext uri="{FF2B5EF4-FFF2-40B4-BE49-F238E27FC236}">
                <a16:creationId xmlns:a16="http://schemas.microsoft.com/office/drawing/2014/main" id="{724DAB43-D1F7-428A-B4A3-06F5EE4A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candidate-2-4">
            <a:extLst xmlns:a="http://schemas.openxmlformats.org/drawingml/2006/main">
              <a:ext uri="{FF2B5EF4-FFF2-40B4-BE49-F238E27FC236}">
                <a16:creationId xmlns:a16="http://schemas.microsoft.com/office/drawing/2014/main" id="{A7ECE87E-BEC1-4435-849A-3D7774AE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candidate-3-0">
            <a:extLst xmlns:a="http://schemas.openxmlformats.org/drawingml/2006/main">
              <a:ext uri="{FF2B5EF4-FFF2-40B4-BE49-F238E27FC236}">
                <a16:creationId xmlns:a16="http://schemas.microsoft.com/office/drawing/2014/main" id="{1FAAE10C-9E55-4629-BEA7-A642DDE8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candidate-3-1">
            <a:extLst xmlns:a="http://schemas.openxmlformats.org/drawingml/2006/main">
              <a:ext uri="{FF2B5EF4-FFF2-40B4-BE49-F238E27FC236}">
                <a16:creationId xmlns:a16="http://schemas.microsoft.com/office/drawing/2014/main" id="{4A616CD0-0AE6-4698-99A2-A3963F65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candidate-3-2">
            <a:extLst xmlns:a="http://schemas.openxmlformats.org/drawingml/2006/main">
              <a:ext uri="{FF2B5EF4-FFF2-40B4-BE49-F238E27FC236}">
                <a16:creationId xmlns:a16="http://schemas.microsoft.com/office/drawing/2014/main" id="{82AE931F-4A2B-4DC5-A242-6587D4EB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candidate-3-3">
            <a:extLst xmlns:a="http://schemas.openxmlformats.org/drawingml/2006/main">
              <a:ext uri="{FF2B5EF4-FFF2-40B4-BE49-F238E27FC236}">
                <a16:creationId xmlns:a16="http://schemas.microsoft.com/office/drawing/2014/main" id="{3E778D42-98B0-493F-AC35-34E65E61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candidate-3-4">
            <a:extLst xmlns:a="http://schemas.openxmlformats.org/drawingml/2006/main">
              <a:ext uri="{FF2B5EF4-FFF2-40B4-BE49-F238E27FC236}">
                <a16:creationId xmlns:a16="http://schemas.microsoft.com/office/drawing/2014/main" id="{47C7EFF1-E9B2-4EA8-9BA1-B27787CA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2D3687CE-54B2-44BF-A229-B26FD0F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 × K candidates</a:t>
            </a:r>
          </a:p>
        </p:txBody>
      </p:sp>
      <p:sp>
        <p:nvSpPr>
          <p:cNvPr id="44" name="collapsed-row">
            <a:extLst xmlns:a="http://schemas.openxmlformats.org/drawingml/2006/main">
              <a:ext uri="{FF2B5EF4-FFF2-40B4-BE49-F238E27FC236}">
                <a16:creationId xmlns:a16="http://schemas.microsoft.com/office/drawing/2014/main" id="{8835B2DF-FF33-4FD4-9ADB-39668CE7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47950"/>
            <a:ext cx="16764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5" name="collapsed-title">
            <a:extLst xmlns:a="http://schemas.openxmlformats.org/drawingml/2006/main">
              <a:ext uri="{FF2B5EF4-FFF2-40B4-BE49-F238E27FC236}">
                <a16:creationId xmlns:a16="http://schemas.microsoft.com/office/drawing/2014/main" id="{8847FDA5-7A32-4A78-9D51-52FFCD3B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57500"/>
            <a:ext cx="140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1 flattened row</a:t>
            </a:r>
          </a:p>
        </p:txBody>
      </p:sp>
      <p:sp>
        <p:nvSpPr>
          <p:cNvPr id="46" name="collapsed-body">
            <a:extLst xmlns:a="http://schemas.openxmlformats.org/drawingml/2006/main">
              <a:ext uri="{FF2B5EF4-FFF2-40B4-BE49-F238E27FC236}">
                <a16:creationId xmlns:a16="http://schemas.microsoft.com/office/drawing/2014/main" id="{C7C6DC50-4BDE-47D8-AA78-4B7509DF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90900"/>
            <a:ext cx="1409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[W × K] logprobs
for session_id</a:t>
            </a:r>
          </a:p>
        </p:txBody>
      </p:sp>
      <p:sp>
        <p:nvSpPr>
          <p:cNvPr id="47" name="runner-bottom-bg">
            <a:extLst xmlns:a="http://schemas.openxmlformats.org/drawingml/2006/main">
              <a:ext uri="{FF2B5EF4-FFF2-40B4-BE49-F238E27FC236}">
                <a16:creationId xmlns:a16="http://schemas.microsoft.com/office/drawing/2014/main" id="{0409C7E3-CBD7-4952-A6B8-E37B8F7B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1106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unner-bottom-text">
            <a:extLst xmlns:a="http://schemas.openxmlformats.org/drawingml/2006/main">
              <a:ext uri="{FF2B5EF4-FFF2-40B4-BE49-F238E27FC236}">
                <a16:creationId xmlns:a16="http://schemas.microsoft.com/office/drawing/2014/main" id="{C396E56B-4F76-4291-9E27-00FE9419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648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展开阶段同时改写：RoPE positions、logits_indices、req_ids / batch index 视图。折叠阶段支持 chunk split，并用 _beam_logprobs_cache 补齐物理 beam 槽位。</a:t>
            </a:r>
          </a:p>
        </p:txBody>
      </p:sp>
      <p:sp>
        <p:nvSpPr>
          <p:cNvPr id="49" name="slide-13-source">
            <a:extLst xmlns:a="http://schemas.openxmlformats.org/drawingml/2006/main">
              <a:ext uri="{FF2B5EF4-FFF2-40B4-BE49-F238E27FC236}">
                <a16:creationId xmlns:a16="http://schemas.microsoft.com/office/drawing/2014/main" id="{B1D18E5E-888C-48C8-A7BC-3EAD28A9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代码：engine_core_patch.py:688–924, 956–1032</a:t>
            </a:r>
          </a:p>
        </p:txBody>
      </p:sp>
      <p:sp>
        <p:nvSpPr>
          <p:cNvPr id="50" name="slide-13-number">
            <a:extLst xmlns:a="http://schemas.openxmlformats.org/drawingml/2006/main">
              <a:ext uri="{FF2B5EF4-FFF2-40B4-BE49-F238E27FC236}">
                <a16:creationId xmlns:a16="http://schemas.microsoft.com/office/drawing/2014/main" id="{90BFF08E-3544-4A71-9FC1-EF74954D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13</a:t>
            </a:r>
          </a:p>
        </p:txBody>
      </p:sp>
    </p:spTree>
    <p:extLst>
      <p:ext uri="{BB962C8B-B14F-4D97-AF65-F5344CB8AC3E}">
        <p14:creationId xmlns:p14="http://schemas.microsoft.com/office/powerpoint/2010/main" val="18650734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9890C659-B4C9-41A9-93A7-A64B9E5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BeamAttention 先把混合 Batch 切成三条执行路径</a:t>
            </a:r>
          </a:p>
        </p:txBody>
      </p:sp>
      <p:cxnSp>
        <p:nvCxnSpPr>
          <p:cNvPr id="40" name="slide-14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1" name="metadata-arrow-input-route"/>
          <p:cNvCxnSpPr/>
          <p:nvPr/>
        </p:nvCxnSpPr>
        <p:spPr>
          <a:xfrm xmlns:a="http://schemas.openxmlformats.org/drawingml/2006/main">
            <a:off x="3429000" y="3181350"/>
            <a:ext cx="47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2" name="metadata-arrow-route-output"/>
          <p:cNvCxnSpPr/>
          <p:nvPr/>
        </p:nvCxnSpPr>
        <p:spPr>
          <a:xfrm xmlns:a="http://schemas.openxmlformats.org/drawingml/2006/main">
            <a:off x="7391400" y="3181350"/>
            <a:ext cx="47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5" name="metadata-input-bg">
            <a:extLst xmlns:a="http://schemas.openxmlformats.org/drawingml/2006/main">
              <a:ext uri="{FF2B5EF4-FFF2-40B4-BE49-F238E27FC236}">
                <a16:creationId xmlns:a16="http://schemas.microsoft.com/office/drawing/2014/main" id="{B31DF05E-502E-4462-B17E-156AD950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9146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data-routing-bg">
            <a:extLst xmlns:a="http://schemas.openxmlformats.org/drawingml/2006/main">
              <a:ext uri="{FF2B5EF4-FFF2-40B4-BE49-F238E27FC236}">
                <a16:creationId xmlns:a16="http://schemas.microsoft.com/office/drawing/2014/main" id="{39BB8D24-03E3-4DBF-9C73-685133F3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34861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adata-output-bg">
            <a:extLst xmlns:a="http://schemas.openxmlformats.org/drawingml/2006/main">
              <a:ext uri="{FF2B5EF4-FFF2-40B4-BE49-F238E27FC236}">
                <a16:creationId xmlns:a16="http://schemas.microsoft.com/office/drawing/2014/main" id="{1370659B-9F37-4985-986B-AE2BD811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7909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adata-input-title">
            <a:extLst xmlns:a="http://schemas.openxmlformats.org/drawingml/2006/main">
              <a:ext uri="{FF2B5EF4-FFF2-40B4-BE49-F238E27FC236}">
                <a16:creationId xmlns:a16="http://schemas.microsoft.com/office/drawing/2014/main" id="{179530EB-B5CF-4E1E-8AFC-7226EF0B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457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输入：公共元数据 + Beam 上下文</a:t>
            </a:r>
          </a:p>
        </p:txBody>
      </p:sp>
      <p:sp>
        <p:nvSpPr>
          <p:cNvPr id="9" name="common-metadata-box">
            <a:extLst xmlns:a="http://schemas.openxmlformats.org/drawingml/2006/main">
              <a:ext uri="{FF2B5EF4-FFF2-40B4-BE49-F238E27FC236}">
                <a16:creationId xmlns:a16="http://schemas.microsoft.com/office/drawing/2014/main" id="{58F08413-AD24-41EB-A06A-2D3C8EF0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4574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common-metadata-title">
            <a:extLst xmlns:a="http://schemas.openxmlformats.org/drawingml/2006/main">
              <a:ext uri="{FF2B5EF4-FFF2-40B4-BE49-F238E27FC236}">
                <a16:creationId xmlns:a16="http://schemas.microsoft.com/office/drawing/2014/main" id="{4D4681EC-B816-41C0-999F-658D339E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ptos Mono"/>
                <a:ea typeface="Aptos Mono"/>
                <a:cs typeface="Aptos Mono"/>
              </a:defRPr>
            </a:pPr>
            <a:r>
              <a:t>CommonAttnMetadata</a:t>
            </a:r>
          </a:p>
        </p:txBody>
      </p:sp>
      <p:sp>
        <p:nvSpPr>
          <p:cNvPr id="11" name="common-metadata-body">
            <a:extLst xmlns:a="http://schemas.openxmlformats.org/drawingml/2006/main">
              <a:ext uri="{FF2B5EF4-FFF2-40B4-BE49-F238E27FC236}">
                <a16:creationId xmlns:a16="http://schemas.microsoft.com/office/drawing/2014/main" id="{91B1936C-C10C-4383-9C41-99BE557F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152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query_start_loc
seq_lens
block_table
slot_mapping</a:t>
            </a:r>
          </a:p>
        </p:txBody>
      </p:sp>
      <p:sp>
        <p:nvSpPr>
          <p:cNvPr id="12" name="beam-context-box">
            <a:extLst xmlns:a="http://schemas.openxmlformats.org/drawingml/2006/main">
              <a:ext uri="{FF2B5EF4-FFF2-40B4-BE49-F238E27FC236}">
                <a16:creationId xmlns:a16="http://schemas.microsoft.com/office/drawing/2014/main" id="{0914FC04-3730-4653-B895-965A5E74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457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beam-context-title">
            <a:extLst xmlns:a="http://schemas.openxmlformats.org/drawingml/2006/main">
              <a:ext uri="{FF2B5EF4-FFF2-40B4-BE49-F238E27FC236}">
                <a16:creationId xmlns:a16="http://schemas.microsoft.com/office/drawing/2014/main" id="{9134716B-70D7-4CDA-BA3E-1540E545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15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BEAM_DATA_VAR</a:t>
            </a:r>
          </a:p>
        </p:txBody>
      </p:sp>
      <p:sp>
        <p:nvSpPr>
          <p:cNvPr id="14" name="beam-context-body">
            <a:extLst xmlns:a="http://schemas.openxmlformats.org/drawingml/2006/main">
              <a:ext uri="{FF2B5EF4-FFF2-40B4-BE49-F238E27FC236}">
                <a16:creationId xmlns:a16="http://schemas.microsoft.com/office/drawing/2014/main" id="{5E45847D-E55C-44EC-B04F-42180419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15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req_ids + beam_data</a:t>
            </a:r>
          </a:p>
        </p:txBody>
      </p:sp>
      <p:sp>
        <p:nvSpPr>
          <p:cNvPr id="15" name="metadata-routing-title">
            <a:extLst xmlns:a="http://schemas.openxmlformats.org/drawingml/2006/main">
              <a:ext uri="{FF2B5EF4-FFF2-40B4-BE49-F238E27FC236}">
                <a16:creationId xmlns:a16="http://schemas.microsoft.com/office/drawing/2014/main" id="{984739EF-B33C-4243-9378-4C6B559B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57350"/>
            <a:ext cx="3028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路由：按 request / query span 分段</a:t>
            </a:r>
          </a:p>
        </p:txBody>
      </p:sp>
      <p:sp>
        <p:nvSpPr>
          <p:cNvPr id="16" name="route-standard">
            <a:extLst xmlns:a="http://schemas.openxmlformats.org/drawingml/2006/main">
              <a:ext uri="{FF2B5EF4-FFF2-40B4-BE49-F238E27FC236}">
                <a16:creationId xmlns:a16="http://schemas.microsoft.com/office/drawing/2014/main" id="{88AD1AF9-36CB-4300-8734-B6F47EB8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09800"/>
            <a:ext cx="2952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oute-prefix">
            <a:extLst xmlns:a="http://schemas.openxmlformats.org/drawingml/2006/main">
              <a:ext uri="{FF2B5EF4-FFF2-40B4-BE49-F238E27FC236}">
                <a16:creationId xmlns:a16="http://schemas.microsoft.com/office/drawing/2014/main" id="{BF0862E2-0F14-4413-BF0C-E85D2EDE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2952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route-suffix">
            <a:extLst xmlns:a="http://schemas.openxmlformats.org/drawingml/2006/main">
              <a:ext uri="{FF2B5EF4-FFF2-40B4-BE49-F238E27FC236}">
                <a16:creationId xmlns:a16="http://schemas.microsoft.com/office/drawing/2014/main" id="{E6C26F8E-26A5-454B-A821-A497A79A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67200"/>
            <a:ext cx="2952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9" name="route-standard-title">
            <a:extLst xmlns:a="http://schemas.openxmlformats.org/drawingml/2006/main">
              <a:ext uri="{FF2B5EF4-FFF2-40B4-BE49-F238E27FC236}">
                <a16:creationId xmlns:a16="http://schemas.microsoft.com/office/drawing/2014/main" id="{A9967391-9502-4BC8-A46A-6D0C6B71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① Standard</a:t>
            </a:r>
          </a:p>
        </p:txBody>
      </p:sp>
      <p:sp>
        <p:nvSpPr>
          <p:cNvPr id="20" name="route-standard-body">
            <a:extLst xmlns:a="http://schemas.openxmlformats.org/drawingml/2006/main">
              <a:ext uri="{FF2B5EF4-FFF2-40B4-BE49-F238E27FC236}">
                <a16:creationId xmlns:a16="http://schemas.microsoft.com/office/drawing/2014/main" id="{6F4EB257-1A5D-4D43-A930-5840CB5D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264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普通请求；或尚未补齐的 prefix chunk</a:t>
            </a:r>
          </a:p>
        </p:txBody>
      </p:sp>
      <p:sp>
        <p:nvSpPr>
          <p:cNvPr id="21" name="route-prefix-title">
            <a:extLst xmlns:a="http://schemas.openxmlformats.org/drawingml/2006/main">
              <a:ext uri="{FF2B5EF4-FFF2-40B4-BE49-F238E27FC236}">
                <a16:creationId xmlns:a16="http://schemas.microsoft.com/office/drawing/2014/main" id="{61B53409-487C-4974-BA02-4D11F7BA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1771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② Shared Prefix</a:t>
            </a:r>
          </a:p>
        </p:txBody>
      </p:sp>
      <p:sp>
        <p:nvSpPr>
          <p:cNvPr id="22" name="route-prefix-body">
            <a:extLst xmlns:a="http://schemas.openxmlformats.org/drawingml/2006/main">
              <a:ext uri="{FF2B5EF4-FFF2-40B4-BE49-F238E27FC236}">
                <a16:creationId xmlns:a16="http://schemas.microsoft.com/office/drawing/2014/main" id="{E1DFEE95-A788-4FF4-995D-63BED81A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71900"/>
            <a:ext cx="2647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相同 prefix_len 的相邻 beam 合组</a:t>
            </a:r>
          </a:p>
        </p:txBody>
      </p:sp>
      <p:sp>
        <p:nvSpPr>
          <p:cNvPr id="23" name="route-suffix-title">
            <a:extLst xmlns:a="http://schemas.openxmlformats.org/drawingml/2006/main">
              <a:ext uri="{FF2B5EF4-FFF2-40B4-BE49-F238E27FC236}">
                <a16:creationId xmlns:a16="http://schemas.microsoft.com/office/drawing/2014/main" id="{FD357AC2-9CCA-4FA6-8DD0-A83F1499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0055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③ Private Suffix</a:t>
            </a:r>
          </a:p>
        </p:txBody>
      </p:sp>
      <p:sp>
        <p:nvSpPr>
          <p:cNvPr id="24" name="route-suffix-body">
            <a:extLst xmlns:a="http://schemas.openxmlformats.org/drawingml/2006/main">
              <a:ext uri="{FF2B5EF4-FFF2-40B4-BE49-F238E27FC236}">
                <a16:creationId xmlns:a16="http://schemas.microsoft.com/office/drawing/2014/main" id="{2120AC0F-454B-4F11-8954-0B2B5996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4345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逐 beam 构造 q/k 长度与物理 slot 映射</a:t>
            </a:r>
          </a:p>
        </p:txBody>
      </p:sp>
      <p:sp>
        <p:nvSpPr>
          <p:cNvPr id="25" name="metadata-output-title">
            <a:extLst xmlns:a="http://schemas.openxmlformats.org/drawingml/2006/main">
              <a:ext uri="{FF2B5EF4-FFF2-40B4-BE49-F238E27FC236}">
                <a16:creationId xmlns:a16="http://schemas.microsoft.com/office/drawing/2014/main" id="{DA4731AF-743C-4FC0-9529-0987FB31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输出：执行元数据</a:t>
            </a:r>
          </a:p>
        </p:txBody>
      </p:sp>
      <p:sp>
        <p:nvSpPr>
          <p:cNvPr id="26" name="output-standard">
            <a:extLst xmlns:a="http://schemas.openxmlformats.org/drawingml/2006/main">
              <a:ext uri="{FF2B5EF4-FFF2-40B4-BE49-F238E27FC236}">
                <a16:creationId xmlns:a16="http://schemas.microsoft.com/office/drawing/2014/main" id="{143E4435-D127-45B8-BAAB-504ACA7A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333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output-prefix">
            <a:extLst xmlns:a="http://schemas.openxmlformats.org/drawingml/2006/main">
              <a:ext uri="{FF2B5EF4-FFF2-40B4-BE49-F238E27FC236}">
                <a16:creationId xmlns:a16="http://schemas.microsoft.com/office/drawing/2014/main" id="{199D43B6-DF0F-4AE8-99F0-AD7F1DDA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333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output-suffix">
            <a:extLst xmlns:a="http://schemas.openxmlformats.org/drawingml/2006/main">
              <a:ext uri="{FF2B5EF4-FFF2-40B4-BE49-F238E27FC236}">
                <a16:creationId xmlns:a16="http://schemas.microsoft.com/office/drawing/2014/main" id="{7BCFC619-3D5D-42E5-B960-D0F7A22F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333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9" name="output-standard-title">
            <a:extLst xmlns:a="http://schemas.openxmlformats.org/drawingml/2006/main">
              <a:ext uri="{FF2B5EF4-FFF2-40B4-BE49-F238E27FC236}">
                <a16:creationId xmlns:a16="http://schemas.microsoft.com/office/drawing/2014/main" id="{B273AB1D-1B5E-4659-AA29-E965AE4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299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std_indices + std block_table</a:t>
            </a:r>
          </a:p>
        </p:txBody>
      </p:sp>
      <p:sp>
        <p:nvSpPr>
          <p:cNvPr id="30" name="output-standard-body">
            <a:extLst xmlns:a="http://schemas.openxmlformats.org/drawingml/2006/main">
              <a:ext uri="{FF2B5EF4-FFF2-40B4-BE49-F238E27FC236}">
                <a16:creationId xmlns:a16="http://schemas.microsoft.com/office/drawing/2014/main" id="{E057CE68-5A67-40F0-9872-17EFC640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2990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causal FlashAttention</a:t>
            </a:r>
          </a:p>
        </p:txBody>
      </p:sp>
      <p:sp>
        <p:nvSpPr>
          <p:cNvPr id="31" name="output-prefix-title">
            <a:extLst xmlns:a="http://schemas.openxmlformats.org/drawingml/2006/main">
              <a:ext uri="{FF2B5EF4-FFF2-40B4-BE49-F238E27FC236}">
                <a16:creationId xmlns:a16="http://schemas.microsoft.com/office/drawing/2014/main" id="{CF126CE6-4BB4-4C0F-9F4C-D09123EA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299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prefix_indices + cu_seqlens_q</a:t>
            </a:r>
          </a:p>
        </p:txBody>
      </p:sp>
      <p:sp>
        <p:nvSpPr>
          <p:cNvPr id="32" name="output-prefix-body">
            <a:extLst xmlns:a="http://schemas.openxmlformats.org/drawingml/2006/main">
              <a:ext uri="{FF2B5EF4-FFF2-40B4-BE49-F238E27FC236}">
                <a16:creationId xmlns:a16="http://schemas.microsoft.com/office/drawing/2014/main" id="{C31A59FA-AC85-450F-A7AC-BFC6D8F7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90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prefix block_table · causal = false</a:t>
            </a:r>
          </a:p>
        </p:txBody>
      </p:sp>
      <p:sp>
        <p:nvSpPr>
          <p:cNvPr id="33" name="output-suffix-title">
            <a:extLst xmlns:a="http://schemas.openxmlformats.org/drawingml/2006/main">
              <a:ext uri="{FF2B5EF4-FFF2-40B4-BE49-F238E27FC236}">
                <a16:creationId xmlns:a16="http://schemas.microsoft.com/office/drawing/2014/main" id="{A2A91AFA-F287-420D-BAD2-72F427D3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2990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suffix cu_seqlens + slot_mapping</a:t>
            </a:r>
          </a:p>
        </p:txBody>
      </p:sp>
      <p:sp>
        <p:nvSpPr>
          <p:cNvPr id="34" name="output-suffix-body">
            <a:extLst xmlns:a="http://schemas.openxmlformats.org/drawingml/2006/main">
              <a:ext uri="{FF2B5EF4-FFF2-40B4-BE49-F238E27FC236}">
                <a16:creationId xmlns:a16="http://schemas.microsoft.com/office/drawing/2014/main" id="{ECCDEA74-BD4E-4A86-8AC9-3891B9F4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00600"/>
            <a:ext cx="299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paged KV gather · causal = true</a:t>
            </a:r>
          </a:p>
        </p:txBody>
      </p:sp>
      <p:sp>
        <p:nvSpPr>
          <p:cNvPr id="35" name="metadata-invariant-bg">
            <a:extLst xmlns:a="http://schemas.openxmlformats.org/drawingml/2006/main">
              <a:ext uri="{FF2B5EF4-FFF2-40B4-BE49-F238E27FC236}">
                <a16:creationId xmlns:a16="http://schemas.microsoft.com/office/drawing/2014/main" id="{AE06F913-AA07-4216-AEA4-9EB2EA90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4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metadata-invariant-text">
            <a:extLst xmlns:a="http://schemas.openxmlformats.org/drawingml/2006/main">
              <a:ext uri="{FF2B5EF4-FFF2-40B4-BE49-F238E27FC236}">
                <a16:creationId xmlns:a16="http://schemas.microsoft.com/office/drawing/2014/main" id="{E26EB96F-2B2B-4B2C-8BA4-71FE31C5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72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一致性：Runner 与 MetadataBuilder 共用 _compute_beam_bounds，保证 chunk → physical beam 映射相同。</a:t>
            </a:r>
          </a:p>
        </p:txBody>
      </p:sp>
      <p:sp>
        <p:nvSpPr>
          <p:cNvPr id="37" name="slide-14-source">
            <a:extLst xmlns:a="http://schemas.openxmlformats.org/drawingml/2006/main">
              <a:ext uri="{FF2B5EF4-FFF2-40B4-BE49-F238E27FC236}">
                <a16:creationId xmlns:a16="http://schemas.microsoft.com/office/drawing/2014/main" id="{6B32B5CB-3A5B-4514-B30D-9BB4382B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代码：beam_attn.py:74–96, 270–478, 622–784 · engine_core_patch.py:412–462</a:t>
            </a:r>
          </a:p>
        </p:txBody>
      </p:sp>
      <p:sp>
        <p:nvSpPr>
          <p:cNvPr id="38" name="slide-14-number">
            <a:extLst xmlns:a="http://schemas.openxmlformats.org/drawingml/2006/main">
              <a:ext uri="{FF2B5EF4-FFF2-40B4-BE49-F238E27FC236}">
                <a16:creationId xmlns:a16="http://schemas.microsoft.com/office/drawing/2014/main" id="{010DF034-CBC6-4CBC-AB5A-68E41D99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14</a:t>
            </a:r>
          </a:p>
        </p:txBody>
      </p:sp>
    </p:spTree>
    <p:extLst>
      <p:ext uri="{BB962C8B-B14F-4D97-AF65-F5344CB8AC3E}">
        <p14:creationId xmlns:p14="http://schemas.microsoft.com/office/powerpoint/2010/main" val="781676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94E8F11D-6213-43D6-B68B-8EA010A8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BeamAttention：两路 FA + LSE 精确合并</a:t>
            </a:r>
          </a:p>
        </p:txBody>
      </p:sp>
      <p:cxnSp>
        <p:nvCxnSpPr>
          <p:cNvPr id="36" name="slide-15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7" name="attn-split-prefix-h1"/>
          <p:cNvCxnSpPr/>
          <p:nvPr/>
        </p:nvCxnSpPr>
        <p:spPr>
          <a:xfrm xmlns:a="http://schemas.openxmlformats.org/drawingml/2006/main">
            <a:off x="2133600" y="3314700"/>
            <a:ext cx="5524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8" name="attn-split-prefix-v"/>
          <p:cNvCxnSpPr/>
          <p:nvPr/>
        </p:nvCxnSpPr>
        <p:spPr>
          <a:xfrm xmlns:a="http://schemas.openxmlformats.org/drawingml/2006/main">
            <a:off x="2686050" y="2114550"/>
            <a:ext cx="286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9" name="attn-split-prefix-h2"/>
          <p:cNvCxnSpPr/>
          <p:nvPr/>
        </p:nvCxnSpPr>
        <p:spPr>
          <a:xfrm xmlns:a="http://schemas.openxmlformats.org/drawingml/2006/main">
            <a:off x="2686050" y="2114550"/>
            <a:ext cx="5524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0" name="attn-split-suffix-h1"/>
          <p:cNvCxnSpPr/>
          <p:nvPr/>
        </p:nvCxnSpPr>
        <p:spPr>
          <a:xfrm xmlns:a="http://schemas.openxmlformats.org/drawingml/2006/main">
            <a:off x="2133600" y="3314700"/>
            <a:ext cx="5524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1" name="attn-split-suffix-v"/>
          <p:cNvCxnSpPr/>
          <p:nvPr/>
        </p:nvCxnSpPr>
        <p:spPr>
          <a:xfrm xmlns:a="http://schemas.openxmlformats.org/drawingml/2006/main">
            <a:off x="2686050" y="3314700"/>
            <a:ext cx="286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2" name="attn-split-suffix-h2"/>
          <p:cNvCxnSpPr/>
          <p:nvPr/>
        </p:nvCxnSpPr>
        <p:spPr>
          <a:xfrm xmlns:a="http://schemas.openxmlformats.org/drawingml/2006/main">
            <a:off x="2686050" y="4514850"/>
            <a:ext cx="5524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3" name="attn-prefix-merge-h1"/>
          <p:cNvCxnSpPr/>
          <p:nvPr/>
        </p:nvCxnSpPr>
        <p:spPr>
          <a:xfrm xmlns:a="http://schemas.openxmlformats.org/drawingml/2006/main">
            <a:off x="5429250" y="2114550"/>
            <a:ext cx="47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4" name="attn-prefix-merge-v"/>
          <p:cNvCxnSpPr/>
          <p:nvPr/>
        </p:nvCxnSpPr>
        <p:spPr>
          <a:xfrm xmlns:a="http://schemas.openxmlformats.org/drawingml/2006/main">
            <a:off x="5905500" y="2114550"/>
            <a:ext cx="286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5" name="attn-prefix-merge-h2"/>
          <p:cNvCxnSpPr/>
          <p:nvPr/>
        </p:nvCxnSpPr>
        <p:spPr>
          <a:xfrm xmlns:a="http://schemas.openxmlformats.org/drawingml/2006/main">
            <a:off x="5905500" y="3314700"/>
            <a:ext cx="47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6" name="attn-suffix-merge-h1"/>
          <p:cNvCxnSpPr/>
          <p:nvPr/>
        </p:nvCxnSpPr>
        <p:spPr>
          <a:xfrm xmlns:a="http://schemas.openxmlformats.org/drawingml/2006/main">
            <a:off x="5429250" y="4514850"/>
            <a:ext cx="47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7" name="attn-suffix-merge-v"/>
          <p:cNvCxnSpPr/>
          <p:nvPr/>
        </p:nvCxnSpPr>
        <p:spPr>
          <a:xfrm xmlns:a="http://schemas.openxmlformats.org/drawingml/2006/main">
            <a:off x="5905500" y="3314700"/>
            <a:ext cx="286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8" name="attn-suffix-merge-h2"/>
          <p:cNvCxnSpPr/>
          <p:nvPr/>
        </p:nvCxnSpPr>
        <p:spPr>
          <a:xfrm xmlns:a="http://schemas.openxmlformats.org/drawingml/2006/main">
            <a:off x="5905500" y="3314700"/>
            <a:ext cx="47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9" name="attn-merge-out"/>
          <p:cNvCxnSpPr/>
          <p:nvPr/>
        </p:nvCxnSpPr>
        <p:spPr>
          <a:xfrm xmlns:a="http://schemas.openxmlformats.org/drawingml/2006/main">
            <a:off x="8001000" y="3314700"/>
            <a:ext cx="1123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6" name="beam-query">
            <a:extLst xmlns:a="http://schemas.openxmlformats.org/drawingml/2006/main">
              <a:ext uri="{FF2B5EF4-FFF2-40B4-BE49-F238E27FC236}">
                <a16:creationId xmlns:a16="http://schemas.microsoft.com/office/drawing/2014/main" id="{93E61518-445B-49FE-835A-B11323E1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beam-query-title">
            <a:extLst xmlns:a="http://schemas.openxmlformats.org/drawingml/2006/main">
              <a:ext uri="{FF2B5EF4-FFF2-40B4-BE49-F238E27FC236}">
                <a16:creationId xmlns:a16="http://schemas.microsoft.com/office/drawing/2014/main" id="{CF0CA7A8-9522-480C-850F-50EF09A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Beam Query</a:t>
            </a:r>
          </a:p>
        </p:txBody>
      </p:sp>
      <p:sp>
        <p:nvSpPr>
          <p:cNvPr id="18" name="beam-query-body">
            <a:extLst xmlns:a="http://schemas.openxmlformats.org/drawingml/2006/main">
              <a:ext uri="{FF2B5EF4-FFF2-40B4-BE49-F238E27FC236}">
                <a16:creationId xmlns:a16="http://schemas.microsoft.com/office/drawing/2014/main" id="{33482AAA-5D41-45A3-9A69-515EC374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39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W 条 query rows</a:t>
            </a:r>
          </a:p>
        </p:txBody>
      </p:sp>
      <p:sp>
        <p:nvSpPr>
          <p:cNvPr id="19" name="prefix-path">
            <a:extLst xmlns:a="http://schemas.openxmlformats.org/drawingml/2006/main">
              <a:ext uri="{FF2B5EF4-FFF2-40B4-BE49-F238E27FC236}">
                <a16:creationId xmlns:a16="http://schemas.microsoft.com/office/drawing/2014/main" id="{02FDBC4B-1159-43D1-B2E1-2D67E9FE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efix-path-title">
            <a:extLst xmlns:a="http://schemas.openxmlformats.org/drawingml/2006/main">
              <a:ext uri="{FF2B5EF4-FFF2-40B4-BE49-F238E27FC236}">
                <a16:creationId xmlns:a16="http://schemas.microsoft.com/office/drawing/2014/main" id="{C362FC7F-6E6A-4B50-B516-FE81226E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① Shared Prefix</a:t>
            </a:r>
          </a:p>
        </p:txBody>
      </p:sp>
      <p:sp>
        <p:nvSpPr>
          <p:cNvPr id="21" name="prefix-path-body">
            <a:extLst xmlns:a="http://schemas.openxmlformats.org/drawingml/2006/main">
              <a:ext uri="{FF2B5EF4-FFF2-40B4-BE49-F238E27FC236}">
                <a16:creationId xmlns:a16="http://schemas.microsoft.com/office/drawing/2014/main" id="{6613F0B3-EFFA-4436-9CBA-1FD7E993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Paged KV + block table
FlashAttention · causal = false</a:t>
            </a:r>
          </a:p>
        </p:txBody>
      </p:sp>
      <p:sp>
        <p:nvSpPr>
          <p:cNvPr id="22" name="suffix-path">
            <a:extLst xmlns:a="http://schemas.openxmlformats.org/drawingml/2006/main">
              <a:ext uri="{FF2B5EF4-FFF2-40B4-BE49-F238E27FC236}">
                <a16:creationId xmlns:a16="http://schemas.microsoft.com/office/drawing/2014/main" id="{83DF4913-1CDD-4722-9834-3C251825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ffix-path-title">
            <a:extLst xmlns:a="http://schemas.openxmlformats.org/drawingml/2006/main">
              <a:ext uri="{FF2B5EF4-FFF2-40B4-BE49-F238E27FC236}">
                <a16:creationId xmlns:a16="http://schemas.microsoft.com/office/drawing/2014/main" id="{63DF6F95-2523-4897-90CB-C345F00F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767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② Beam Suffix</a:t>
            </a:r>
          </a:p>
        </p:txBody>
      </p:sp>
      <p:sp>
        <p:nvSpPr>
          <p:cNvPr id="24" name="suffix-path-body">
            <a:extLst xmlns:a="http://schemas.openxmlformats.org/drawingml/2006/main">
              <a:ext uri="{FF2B5EF4-FFF2-40B4-BE49-F238E27FC236}">
                <a16:creationId xmlns:a16="http://schemas.microsoft.com/office/drawing/2014/main" id="{8177A850-B0B6-4328-A30A-3BA3B063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0"/>
            <a:ext cx="1962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paged KV → Triton gather
contiguous K/V → causal FA</a:t>
            </a:r>
          </a:p>
        </p:txBody>
      </p:sp>
      <p:sp>
        <p:nvSpPr>
          <p:cNvPr id="25" name="lse-merge">
            <a:extLst xmlns:a="http://schemas.openxmlformats.org/drawingml/2006/main">
              <a:ext uri="{FF2B5EF4-FFF2-40B4-BE49-F238E27FC236}">
                <a16:creationId xmlns:a16="http://schemas.microsoft.com/office/drawing/2014/main" id="{469C29E0-B0C4-43CB-996E-C6390EFC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lse-merge-title">
            <a:extLst xmlns:a="http://schemas.openxmlformats.org/drawingml/2006/main">
              <a:ext uri="{FF2B5EF4-FFF2-40B4-BE49-F238E27FC236}">
                <a16:creationId xmlns:a16="http://schemas.microsoft.com/office/drawing/2014/main" id="{8E321C05-3B80-4ED0-A61D-24CD3CAF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③ LSE Merge</a:t>
            </a:r>
          </a:p>
        </p:txBody>
      </p:sp>
      <p:sp>
        <p:nvSpPr>
          <p:cNvPr id="27" name="lse-merge-body">
            <a:extLst xmlns:a="http://schemas.openxmlformats.org/drawingml/2006/main">
              <a:ext uri="{FF2B5EF4-FFF2-40B4-BE49-F238E27FC236}">
                <a16:creationId xmlns:a16="http://schemas.microsoft.com/office/drawing/2014/main" id="{AE4D7410-6245-434A-9C90-6C4B51C8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merge_attn_states</a:t>
            </a:r>
          </a:p>
        </p:txBody>
      </p:sp>
      <p:sp>
        <p:nvSpPr>
          <p:cNvPr id="28" name="attn-output">
            <a:extLst xmlns:a="http://schemas.openxmlformats.org/drawingml/2006/main">
              <a:ext uri="{FF2B5EF4-FFF2-40B4-BE49-F238E27FC236}">
                <a16:creationId xmlns:a16="http://schemas.microsoft.com/office/drawing/2014/main" id="{A7373589-C590-4ACA-997E-E9B8F31E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5336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ttn-output-title">
            <a:extLst xmlns:a="http://schemas.openxmlformats.org/drawingml/2006/main">
              <a:ext uri="{FF2B5EF4-FFF2-40B4-BE49-F238E27FC236}">
                <a16:creationId xmlns:a16="http://schemas.microsoft.com/office/drawing/2014/main" id="{734057C4-A470-4429-A5B6-E48C5DC7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2152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Attention Output</a:t>
            </a:r>
          </a:p>
        </p:txBody>
      </p:sp>
      <p:sp>
        <p:nvSpPr>
          <p:cNvPr id="30" name="attn-output-body">
            <a:extLst xmlns:a="http://schemas.openxmlformats.org/drawingml/2006/main">
              <a:ext uri="{FF2B5EF4-FFF2-40B4-BE49-F238E27FC236}">
                <a16:creationId xmlns:a16="http://schemas.microsoft.com/office/drawing/2014/main" id="{B46DDB85-1DB5-4EB9-8175-BF9A41BA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2900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写回对应 query indices</a:t>
            </a:r>
          </a:p>
        </p:txBody>
      </p:sp>
      <p:sp>
        <p:nvSpPr>
          <p:cNvPr id="31" name="attn-equation-bg">
            <a:extLst xmlns:a="http://schemas.openxmlformats.org/drawingml/2006/main">
              <a:ext uri="{FF2B5EF4-FFF2-40B4-BE49-F238E27FC236}">
                <a16:creationId xmlns:a16="http://schemas.microsoft.com/office/drawing/2014/main" id="{8DCE738B-DF78-49F1-842A-1985AE05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106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ttn-equation">
            <a:extLst xmlns:a="http://schemas.openxmlformats.org/drawingml/2006/main">
              <a:ext uri="{FF2B5EF4-FFF2-40B4-BE49-F238E27FC236}">
                <a16:creationId xmlns:a16="http://schemas.microsoft.com/office/drawing/2014/main" id="{272FB4F3-83F3-4464-9F2C-3A829383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87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O = [exp(LSEₚ)·Oₚ + exp(LSEₛ)·Oₛ] / [exp(LSEₚ) + exp(LSEₛ)]</a:t>
            </a:r>
          </a:p>
        </p:txBody>
      </p:sp>
      <p:sp>
        <p:nvSpPr>
          <p:cNvPr id="33" name="slide-15-source">
            <a:extLst xmlns:a="http://schemas.openxmlformats.org/drawingml/2006/main">
              <a:ext uri="{FF2B5EF4-FFF2-40B4-BE49-F238E27FC236}">
                <a16:creationId xmlns:a16="http://schemas.microsoft.com/office/drawing/2014/main" id="{4ECEDE62-11F1-4DB1-AAA7-944E4CE5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代码：beam_attn.py:879–991, 1124–1196 · beam_attn_triton.py:81–146</a:t>
            </a:r>
          </a:p>
        </p:txBody>
      </p:sp>
      <p:sp>
        <p:nvSpPr>
          <p:cNvPr id="34" name="slide-15-number">
            <a:extLst xmlns:a="http://schemas.openxmlformats.org/drawingml/2006/main">
              <a:ext uri="{FF2B5EF4-FFF2-40B4-BE49-F238E27FC236}">
                <a16:creationId xmlns:a16="http://schemas.microsoft.com/office/drawing/2014/main" id="{810C5749-DA79-42B9-B42C-E1E193C8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15</a:t>
            </a:r>
          </a:p>
        </p:txBody>
      </p:sp>
    </p:spTree>
    <p:extLst>
      <p:ext uri="{BB962C8B-B14F-4D97-AF65-F5344CB8AC3E}">
        <p14:creationId xmlns:p14="http://schemas.microsoft.com/office/powerpoint/2010/main" val="1911389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3930B133-0B17-419A-8EC7-411E8AAB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KV 不 Fork，Suffix 重算近似二次增长</a:t>
            </a:r>
          </a:p>
        </p:txBody>
      </p:sp>
      <p:cxnSp>
        <p:nvCxnSpPr>
          <p:cNvPr id="43" name="slide-16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compute-intro">
            <a:extLst xmlns:a="http://schemas.openxmlformats.org/drawingml/2006/main">
              <a:ext uri="{FF2B5EF4-FFF2-40B4-BE49-F238E27FC236}">
                <a16:creationId xmlns:a16="http://schemas.microsoft.com/office/drawing/2014/main" id="{9E47814F-C471-4076-87B9-89286AF3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590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每一轮重新提交所有 beam 的完整 suffix</a:t>
            </a:r>
          </a:p>
        </p:txBody>
      </p:sp>
      <p:sp>
        <p:nvSpPr>
          <p:cNvPr id="4" name="recompute-grid-bg">
            <a:extLst xmlns:a="http://schemas.openxmlformats.org/drawingml/2006/main">
              <a:ext uri="{FF2B5EF4-FFF2-40B4-BE49-F238E27FC236}">
                <a16:creationId xmlns:a16="http://schemas.microsoft.com/office/drawing/2014/main" id="{B71367FF-E561-4447-9440-E8CD1CEF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67246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ompute-step1-label">
            <a:extLst xmlns:a="http://schemas.openxmlformats.org/drawingml/2006/main">
              <a:ext uri="{FF2B5EF4-FFF2-40B4-BE49-F238E27FC236}">
                <a16:creationId xmlns:a16="http://schemas.microsoft.com/office/drawing/2014/main" id="{550877AA-30EB-4911-84A7-29AF2BF1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Step 1</a:t>
            </a:r>
          </a:p>
        </p:txBody>
      </p:sp>
      <p:sp>
        <p:nvSpPr>
          <p:cNvPr id="6" name="recompute-step2-label">
            <a:extLst xmlns:a="http://schemas.openxmlformats.org/drawingml/2006/main">
              <a:ext uri="{FF2B5EF4-FFF2-40B4-BE49-F238E27FC236}">
                <a16:creationId xmlns:a16="http://schemas.microsoft.com/office/drawing/2014/main" id="{3C76E15B-3AE5-4CCC-A3D6-A329658A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Step 2</a:t>
            </a:r>
          </a:p>
        </p:txBody>
      </p:sp>
      <p:sp>
        <p:nvSpPr>
          <p:cNvPr id="7" name="recompute-step3-label">
            <a:extLst xmlns:a="http://schemas.openxmlformats.org/drawingml/2006/main">
              <a:ext uri="{FF2B5EF4-FFF2-40B4-BE49-F238E27FC236}">
                <a16:creationId xmlns:a16="http://schemas.microsoft.com/office/drawing/2014/main" id="{86B3FDC9-BC31-4F94-B14E-7A1C3948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Step 3</a:t>
            </a:r>
          </a:p>
        </p:txBody>
      </p:sp>
      <p:sp>
        <p:nvSpPr>
          <p:cNvPr id="8" name="recompute-stept-label">
            <a:extLst xmlns:a="http://schemas.openxmlformats.org/drawingml/2006/main">
              <a:ext uri="{FF2B5EF4-FFF2-40B4-BE49-F238E27FC236}">
                <a16:creationId xmlns:a16="http://schemas.microsoft.com/office/drawing/2014/main" id="{09EA9D44-F05F-45D6-9B9D-47BF7E95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Step T</a:t>
            </a:r>
          </a:p>
        </p:txBody>
      </p:sp>
      <p:sp>
        <p:nvSpPr>
          <p:cNvPr id="9" name="r11">
            <a:extLst xmlns:a="http://schemas.openxmlformats.org/drawingml/2006/main">
              <a:ext uri="{FF2B5EF4-FFF2-40B4-BE49-F238E27FC236}">
                <a16:creationId xmlns:a16="http://schemas.microsoft.com/office/drawing/2014/main" id="{7E3DFE96-D130-47E1-92FC-B4A40D66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8600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r21">
            <a:extLst xmlns:a="http://schemas.openxmlformats.org/drawingml/2006/main">
              <a:ext uri="{FF2B5EF4-FFF2-40B4-BE49-F238E27FC236}">
                <a16:creationId xmlns:a16="http://schemas.microsoft.com/office/drawing/2014/main" id="{10CE6E45-2442-49E6-BA71-0E42F4D2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527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r22">
            <a:extLst xmlns:a="http://schemas.openxmlformats.org/drawingml/2006/main">
              <a:ext uri="{FF2B5EF4-FFF2-40B4-BE49-F238E27FC236}">
                <a16:creationId xmlns:a16="http://schemas.microsoft.com/office/drawing/2014/main" id="{9C20140A-B393-47BB-A81C-844CA97D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r31">
            <a:extLst xmlns:a="http://schemas.openxmlformats.org/drawingml/2006/main">
              <a:ext uri="{FF2B5EF4-FFF2-40B4-BE49-F238E27FC236}">
                <a16:creationId xmlns:a16="http://schemas.microsoft.com/office/drawing/2014/main" id="{40CFD8E4-2A47-40C6-92B2-C074760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1950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32">
            <a:extLst xmlns:a="http://schemas.openxmlformats.org/drawingml/2006/main">
              <a:ext uri="{FF2B5EF4-FFF2-40B4-BE49-F238E27FC236}">
                <a16:creationId xmlns:a16="http://schemas.microsoft.com/office/drawing/2014/main" id="{3E34EA73-583A-456B-ACE9-24D563A6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1950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r33">
            <a:extLst xmlns:a="http://schemas.openxmlformats.org/drawingml/2006/main">
              <a:ext uri="{FF2B5EF4-FFF2-40B4-BE49-F238E27FC236}">
                <a16:creationId xmlns:a16="http://schemas.microsoft.com/office/drawing/2014/main" id="{53B7D937-778E-4AFE-9BA5-19D8CD3B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rt1">
            <a:extLst xmlns:a="http://schemas.openxmlformats.org/drawingml/2006/main">
              <a:ext uri="{FF2B5EF4-FFF2-40B4-BE49-F238E27FC236}">
                <a16:creationId xmlns:a16="http://schemas.microsoft.com/office/drawing/2014/main" id="{684ECB16-E66F-4A5A-A9B4-7A194F30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862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rt2">
            <a:extLst xmlns:a="http://schemas.openxmlformats.org/drawingml/2006/main">
              <a:ext uri="{FF2B5EF4-FFF2-40B4-BE49-F238E27FC236}">
                <a16:creationId xmlns:a16="http://schemas.microsoft.com/office/drawing/2014/main" id="{1FF151AD-125E-43F7-BE9B-2E080E80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862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t3">
            <a:extLst xmlns:a="http://schemas.openxmlformats.org/drawingml/2006/main">
              <a:ext uri="{FF2B5EF4-FFF2-40B4-BE49-F238E27FC236}">
                <a16:creationId xmlns:a16="http://schemas.microsoft.com/office/drawing/2014/main" id="{95D985A4-FFE0-4297-8CD8-1EBACE06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rtdots">
            <a:extLst xmlns:a="http://schemas.openxmlformats.org/drawingml/2006/main">
              <a:ext uri="{FF2B5EF4-FFF2-40B4-BE49-F238E27FC236}">
                <a16:creationId xmlns:a16="http://schemas.microsoft.com/office/drawing/2014/main" id="{77C46CF2-793C-415E-BB85-1974416A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rtt">
            <a:extLst xmlns:a="http://schemas.openxmlformats.org/drawingml/2006/main">
              <a:ext uri="{FF2B5EF4-FFF2-40B4-BE49-F238E27FC236}">
                <a16:creationId xmlns:a16="http://schemas.microsoft.com/office/drawing/2014/main" id="{CEADED4D-BA0B-4A08-9A15-C2D60FA9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r11-text">
            <a:extLst xmlns:a="http://schemas.openxmlformats.org/drawingml/2006/main">
              <a:ext uri="{FF2B5EF4-FFF2-40B4-BE49-F238E27FC236}">
                <a16:creationId xmlns:a16="http://schemas.microsoft.com/office/drawing/2014/main" id="{BC4F2BBE-C777-450E-A394-2D18EEF1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6220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t₁</a:t>
            </a:r>
          </a:p>
        </p:txBody>
      </p:sp>
      <p:sp>
        <p:nvSpPr>
          <p:cNvPr id="21" name="r21-text">
            <a:extLst xmlns:a="http://schemas.openxmlformats.org/drawingml/2006/main">
              <a:ext uri="{FF2B5EF4-FFF2-40B4-BE49-F238E27FC236}">
                <a16:creationId xmlns:a16="http://schemas.microsoft.com/office/drawing/2014/main" id="{754CD8A1-044B-4726-8831-C697490F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2895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t₁</a:t>
            </a:r>
          </a:p>
        </p:txBody>
      </p:sp>
      <p:sp>
        <p:nvSpPr>
          <p:cNvPr id="22" name="r22-text">
            <a:extLst xmlns:a="http://schemas.openxmlformats.org/drawingml/2006/main">
              <a:ext uri="{FF2B5EF4-FFF2-40B4-BE49-F238E27FC236}">
                <a16:creationId xmlns:a16="http://schemas.microsoft.com/office/drawing/2014/main" id="{B7F37A28-F237-4F46-ADAF-4A2BD451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2895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t₂</a:t>
            </a:r>
          </a:p>
        </p:txBody>
      </p:sp>
      <p:sp>
        <p:nvSpPr>
          <p:cNvPr id="23" name="r31-text">
            <a:extLst xmlns:a="http://schemas.openxmlformats.org/drawingml/2006/main">
              <a:ext uri="{FF2B5EF4-FFF2-40B4-BE49-F238E27FC236}">
                <a16:creationId xmlns:a16="http://schemas.microsoft.com/office/drawing/2014/main" id="{91F7D10A-5AA6-4C54-B33A-9A33E32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9570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t₁</a:t>
            </a:r>
          </a:p>
        </p:txBody>
      </p:sp>
      <p:sp>
        <p:nvSpPr>
          <p:cNvPr id="24" name="r32-text">
            <a:extLst xmlns:a="http://schemas.openxmlformats.org/drawingml/2006/main">
              <a:ext uri="{FF2B5EF4-FFF2-40B4-BE49-F238E27FC236}">
                <a16:creationId xmlns:a16="http://schemas.microsoft.com/office/drawing/2014/main" id="{F2DA189D-D9EA-40D1-A05E-A66DD33C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9570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t₂</a:t>
            </a:r>
          </a:p>
        </p:txBody>
      </p:sp>
      <p:sp>
        <p:nvSpPr>
          <p:cNvPr id="25" name="r33-text">
            <a:extLst xmlns:a="http://schemas.openxmlformats.org/drawingml/2006/main">
              <a:ext uri="{FF2B5EF4-FFF2-40B4-BE49-F238E27FC236}">
                <a16:creationId xmlns:a16="http://schemas.microsoft.com/office/drawing/2014/main" id="{4711C42C-5651-4565-BFC4-1BC9AA51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t₃</a:t>
            </a:r>
          </a:p>
        </p:txBody>
      </p:sp>
      <p:sp>
        <p:nvSpPr>
          <p:cNvPr id="26" name="rt1-text">
            <a:extLst xmlns:a="http://schemas.openxmlformats.org/drawingml/2006/main">
              <a:ext uri="{FF2B5EF4-FFF2-40B4-BE49-F238E27FC236}">
                <a16:creationId xmlns:a16="http://schemas.microsoft.com/office/drawing/2014/main" id="{A223FE23-223E-40B3-BF4A-C2C547F8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6245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t₁</a:t>
            </a:r>
          </a:p>
        </p:txBody>
      </p:sp>
      <p:sp>
        <p:nvSpPr>
          <p:cNvPr id="27" name="rt2-text">
            <a:extLst xmlns:a="http://schemas.openxmlformats.org/drawingml/2006/main">
              <a:ext uri="{FF2B5EF4-FFF2-40B4-BE49-F238E27FC236}">
                <a16:creationId xmlns:a16="http://schemas.microsoft.com/office/drawing/2014/main" id="{F7BA21E5-17A5-4925-AF29-AF5D21A8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6245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t₂</a:t>
            </a:r>
          </a:p>
        </p:txBody>
      </p:sp>
      <p:sp>
        <p:nvSpPr>
          <p:cNvPr id="28" name="rt3-text">
            <a:extLst xmlns:a="http://schemas.openxmlformats.org/drawingml/2006/main">
              <a:ext uri="{FF2B5EF4-FFF2-40B4-BE49-F238E27FC236}">
                <a16:creationId xmlns:a16="http://schemas.microsoft.com/office/drawing/2014/main" id="{242B4D53-00E7-4539-B9AF-C1F3B0DF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6245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t₃</a:t>
            </a:r>
          </a:p>
        </p:txBody>
      </p:sp>
      <p:sp>
        <p:nvSpPr>
          <p:cNvPr id="29" name="rtdots-text">
            <a:extLst xmlns:a="http://schemas.openxmlformats.org/drawingml/2006/main">
              <a:ext uri="{FF2B5EF4-FFF2-40B4-BE49-F238E27FC236}">
                <a16:creationId xmlns:a16="http://schemas.microsoft.com/office/drawing/2014/main" id="{48E9AED9-FCD0-4D79-BF9B-BCD333A4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6245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…</a:t>
            </a:r>
          </a:p>
        </p:txBody>
      </p:sp>
      <p:sp>
        <p:nvSpPr>
          <p:cNvPr id="30" name="rtt-text">
            <a:extLst xmlns:a="http://schemas.openxmlformats.org/drawingml/2006/main">
              <a:ext uri="{FF2B5EF4-FFF2-40B4-BE49-F238E27FC236}">
                <a16:creationId xmlns:a16="http://schemas.microsoft.com/office/drawing/2014/main" id="{77F5C1DB-6F9C-4FD5-878C-41B0C1A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tₜ</a:t>
            </a:r>
          </a:p>
        </p:txBody>
      </p:sp>
      <p:sp>
        <p:nvSpPr>
          <p:cNvPr id="31" name="recompute-legend">
            <a:extLst xmlns:a="http://schemas.openxmlformats.org/drawingml/2006/main">
              <a:ext uri="{FF2B5EF4-FFF2-40B4-BE49-F238E27FC236}">
                <a16:creationId xmlns:a16="http://schemas.microsoft.com/office/drawing/2014/main" id="{8DD33CDD-F6BE-4B9D-9FA6-AE902707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3395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灰色 token 在后续 step 被重复 forward</a:t>
            </a:r>
          </a:p>
        </p:txBody>
      </p:sp>
      <p:sp>
        <p:nvSpPr>
          <p:cNvPr id="32" name="recompute-current-bg">
            <a:extLst xmlns:a="http://schemas.openxmlformats.org/drawingml/2006/main">
              <a:ext uri="{FF2B5EF4-FFF2-40B4-BE49-F238E27FC236}">
                <a16:creationId xmlns:a16="http://schemas.microsoft.com/office/drawing/2014/main" id="{3F08BF94-C17C-4586-8D15-9924140C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19300"/>
            <a:ext cx="4038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ompute-current-title">
            <a:extLst xmlns:a="http://schemas.openxmlformats.org/drawingml/2006/main">
              <a:ext uri="{FF2B5EF4-FFF2-40B4-BE49-F238E27FC236}">
                <a16:creationId xmlns:a16="http://schemas.microsoft.com/office/drawing/2014/main" id="{465B4A21-B3D3-4D58-A270-50CDB7F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2885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当前 grouped recompute</a:t>
            </a:r>
          </a:p>
        </p:txBody>
      </p:sp>
      <p:sp>
        <p:nvSpPr>
          <p:cNvPr id="34" name="recompute-current-formula">
            <a:extLst xmlns:a="http://schemas.openxmlformats.org/drawingml/2006/main">
              <a:ext uri="{FF2B5EF4-FFF2-40B4-BE49-F238E27FC236}">
                <a16:creationId xmlns:a16="http://schemas.microsoft.com/office/drawing/2014/main" id="{03B2F9EF-D55A-434C-9CD3-7DF34C7B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43200"/>
            <a:ext cx="3543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DCBF4"/>
                </a:solidFill>
                <a:latin typeface="Aptos Mono"/>
                <a:ea typeface="Aptos Mono"/>
                <a:cs typeface="Aptos Mono"/>
              </a:defRPr>
            </a:pPr>
            <a:r>
              <a:t>W · Σₜ₌₁ᵀ t = W·T(T+1)/2</a:t>
            </a:r>
          </a:p>
        </p:txBody>
      </p:sp>
      <p:sp>
        <p:nvSpPr>
          <p:cNvPr id="35" name="recompute-ideal-bg">
            <a:extLst xmlns:a="http://schemas.openxmlformats.org/drawingml/2006/main">
              <a:ext uri="{FF2B5EF4-FFF2-40B4-BE49-F238E27FC236}">
                <a16:creationId xmlns:a16="http://schemas.microsoft.com/office/drawing/2014/main" id="{B7DBF4C8-1CED-41AF-B7AD-669FF9D5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4038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25855A"/>
            </a:solidFill>
            <a:prstDash val="solid"/>
          </a:ln>
        </p:spPr>
      </p:sp>
      <p:sp>
        <p:nvSpPr>
          <p:cNvPr id="36" name="recompute-ideal-title">
            <a:extLst xmlns:a="http://schemas.openxmlformats.org/drawingml/2006/main">
              <a:ext uri="{FF2B5EF4-FFF2-40B4-BE49-F238E27FC236}">
                <a16:creationId xmlns:a16="http://schemas.microsoft.com/office/drawing/2014/main" id="{CD812CC7-104E-4E05-8E9B-9EF3D91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3380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855A"/>
                </a:solidFill>
                <a:latin typeface="Noto Sans SC"/>
                <a:ea typeface="Noto Sans SC"/>
                <a:cs typeface="Noto Sans SC"/>
              </a:defRPr>
            </a:pPr>
            <a:r>
              <a:t>持久化 Beam KV</a:t>
            </a:r>
          </a:p>
        </p:txBody>
      </p:sp>
      <p:sp>
        <p:nvSpPr>
          <p:cNvPr id="37" name="recompute-ideal-formula">
            <a:extLst xmlns:a="http://schemas.openxmlformats.org/drawingml/2006/main">
              <a:ext uri="{FF2B5EF4-FFF2-40B4-BE49-F238E27FC236}">
                <a16:creationId xmlns:a16="http://schemas.microsoft.com/office/drawing/2014/main" id="{5A809CA4-50F5-42CC-9B67-56B5050D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48150"/>
            <a:ext cx="3543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每轮只算新增 token → W·T</a:t>
            </a:r>
          </a:p>
        </p:txBody>
      </p:sp>
      <p:sp>
        <p:nvSpPr>
          <p:cNvPr id="38" name="recompute-bottom">
            <a:extLst xmlns:a="http://schemas.openxmlformats.org/drawingml/2006/main">
              <a:ext uri="{FF2B5EF4-FFF2-40B4-BE49-F238E27FC236}">
                <a16:creationId xmlns:a16="http://schemas.microsoft.com/office/drawing/2014/main" id="{60636817-ACA4-4E89-BE2C-726513F7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114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compute-bottom-text">
            <a:extLst xmlns:a="http://schemas.openxmlformats.org/drawingml/2006/main">
              <a:ext uri="{FF2B5EF4-FFF2-40B4-BE49-F238E27FC236}">
                <a16:creationId xmlns:a16="http://schemas.microsoft.com/office/drawing/2014/main" id="{1800850C-EAF5-42EB-A53F-0CAF8C6B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87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因此 GR 更适合“长 Prompt + 短输出 + 中等 W”；输出越长，suffix 重算越可能吞噬 grouped execution 带来的收益。</a:t>
            </a:r>
          </a:p>
        </p:txBody>
      </p:sp>
      <p:sp>
        <p:nvSpPr>
          <p:cNvPr id="40" name="slide-16-source">
            <a:extLst xmlns:a="http://schemas.openxmlformats.org/drawingml/2006/main">
              <a:ext uri="{FF2B5EF4-FFF2-40B4-BE49-F238E27FC236}">
                <a16:creationId xmlns:a16="http://schemas.microsoft.com/office/drawing/2014/main" id="{B60CF435-81F5-4CD3-8362-14C9F0C2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代码事实：EngineCore 每步重建 P ∥ S₀…Sᵂ⁻¹，Scheduler 仅允许共享 Prefix KV 命中</a:t>
            </a:r>
          </a:p>
        </p:txBody>
      </p:sp>
      <p:sp>
        <p:nvSpPr>
          <p:cNvPr id="41" name="slide-16-number">
            <a:extLst xmlns:a="http://schemas.openxmlformats.org/drawingml/2006/main">
              <a:ext uri="{FF2B5EF4-FFF2-40B4-BE49-F238E27FC236}">
                <a16:creationId xmlns:a16="http://schemas.microsoft.com/office/drawing/2014/main" id="{9DBEED6C-7DA8-4BB8-BC91-12F21D27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16</a:t>
            </a:r>
          </a:p>
        </p:txBody>
      </p:sp>
    </p:spTree>
    <p:extLst>
      <p:ext uri="{BB962C8B-B14F-4D97-AF65-F5344CB8AC3E}">
        <p14:creationId xmlns:p14="http://schemas.microsoft.com/office/powerpoint/2010/main" val="9193514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4C85A087-08BB-4414-979C-1C10CDB4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收益边界：少 W 个请求，不少 W 条 Query</a:t>
            </a:r>
          </a:p>
        </p:txBody>
      </p:sp>
      <p:cxnSp>
        <p:nvCxnSpPr>
          <p:cNvPr id="28" name="slide-17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benefit-bg">
            <a:extLst xmlns:a="http://schemas.openxmlformats.org/drawingml/2006/main">
              <a:ext uri="{FF2B5EF4-FFF2-40B4-BE49-F238E27FC236}">
                <a16:creationId xmlns:a16="http://schemas.microsoft.com/office/drawing/2014/main" id="{FB0A29AB-7AF8-4AC9-9D99-17AC7A0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2959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st-bg">
            <a:extLst xmlns:a="http://schemas.openxmlformats.org/drawingml/2006/main">
              <a:ext uri="{FF2B5EF4-FFF2-40B4-BE49-F238E27FC236}">
                <a16:creationId xmlns:a16="http://schemas.microsoft.com/office/drawing/2014/main" id="{E315D9C9-6A48-4E22-B451-002E15E1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52959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enefit-title">
            <a:extLst xmlns:a="http://schemas.openxmlformats.org/drawingml/2006/main">
              <a:ext uri="{FF2B5EF4-FFF2-40B4-BE49-F238E27FC236}">
                <a16:creationId xmlns:a16="http://schemas.microsoft.com/office/drawing/2014/main" id="{6C9D1BE7-E15A-4EC1-A4FB-8E7CF62B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57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855A"/>
                </a:solidFill>
                <a:latin typeface="Noto Sans SC"/>
                <a:ea typeface="Noto Sans SC"/>
                <a:cs typeface="Noto Sans SC"/>
              </a:defRPr>
            </a:pPr>
            <a:r>
              <a:t>明确收益</a:t>
            </a:r>
          </a:p>
        </p:txBody>
      </p:sp>
      <p:sp>
        <p:nvSpPr>
          <p:cNvPr id="6" name="dot">
            <a:extLst xmlns:a="http://schemas.openxmlformats.org/drawingml/2006/main">
              <a:ext uri="{FF2B5EF4-FFF2-40B4-BE49-F238E27FC236}">
                <a16:creationId xmlns:a16="http://schemas.microsoft.com/office/drawing/2014/main" id="{2AF07EED-9594-4B5E-8FC7-C40871F2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82-246">
            <a:extLst xmlns:a="http://schemas.openxmlformats.org/drawingml/2006/main">
              <a:ext uri="{FF2B5EF4-FFF2-40B4-BE49-F238E27FC236}">
                <a16:creationId xmlns:a16="http://schemas.microsoft.com/office/drawing/2014/main" id="{F57A590E-2F38-4C0C-A307-7AF8AA37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38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 个独立 request → 1 个 grouped session</a:t>
            </a:r>
          </a:p>
        </p:txBody>
      </p:sp>
      <p:sp>
        <p:nvSpPr>
          <p:cNvPr id="8" name="dot">
            <a:extLst xmlns:a="http://schemas.openxmlformats.org/drawingml/2006/main">
              <a:ext uri="{FF2B5EF4-FFF2-40B4-BE49-F238E27FC236}">
                <a16:creationId xmlns:a16="http://schemas.microsoft.com/office/drawing/2014/main" id="{D6DA79CE-8EB6-4D32-B3C1-92F8F26B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82-314">
            <a:extLst xmlns:a="http://schemas.openxmlformats.org/drawingml/2006/main">
              <a:ext uri="{FF2B5EF4-FFF2-40B4-BE49-F238E27FC236}">
                <a16:creationId xmlns:a16="http://schemas.microsoft.com/office/drawing/2014/main" id="{17A197AE-F70C-46E8-BBEC-B67A4E85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438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共享 prefix KV 仅存一份；block table 复用</a:t>
            </a:r>
          </a:p>
        </p:txBody>
      </p:sp>
      <p:sp>
        <p:nvSpPr>
          <p:cNvPr id="10" name="dot">
            <a:extLst xmlns:a="http://schemas.openxmlformats.org/drawingml/2006/main">
              <a:ext uri="{FF2B5EF4-FFF2-40B4-BE49-F238E27FC236}">
                <a16:creationId xmlns:a16="http://schemas.microsoft.com/office/drawing/2014/main" id="{88B3C597-88C9-4BC7-B78A-9849EB68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82-382">
            <a:extLst xmlns:a="http://schemas.openxmlformats.org/drawingml/2006/main">
              <a:ext uri="{FF2B5EF4-FFF2-40B4-BE49-F238E27FC236}">
                <a16:creationId xmlns:a16="http://schemas.microsoft.com/office/drawing/2014/main" id="{3AF0297E-E7B9-4A7D-B674-E78B16C0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38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 行 query 合批，降低 launch / 调度碎片</a:t>
            </a:r>
          </a:p>
        </p:txBody>
      </p:sp>
      <p:sp>
        <p:nvSpPr>
          <p:cNvPr id="12" name="dot">
            <a:extLst xmlns:a="http://schemas.openxmlformats.org/drawingml/2006/main">
              <a:ext uri="{FF2B5EF4-FFF2-40B4-BE49-F238E27FC236}">
                <a16:creationId xmlns:a16="http://schemas.microsoft.com/office/drawing/2014/main" id="{B5089225-DA1C-4C22-BFBE-A6216F98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82-450">
            <a:extLst xmlns:a="http://schemas.openxmlformats.org/drawingml/2006/main">
              <a:ext uri="{FF2B5EF4-FFF2-40B4-BE49-F238E27FC236}">
                <a16:creationId xmlns:a16="http://schemas.microsoft.com/office/drawing/2014/main" id="{25EEF082-0CC9-4D20-A336-86CAB87A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438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positions 分段构造合并为一次 H2D copy</a:t>
            </a:r>
          </a:p>
        </p:txBody>
      </p:sp>
      <p:sp>
        <p:nvSpPr>
          <p:cNvPr id="14" name="cost-title">
            <a:extLst xmlns:a="http://schemas.openxmlformats.org/drawingml/2006/main">
              <a:ext uri="{FF2B5EF4-FFF2-40B4-BE49-F238E27FC236}">
                <a16:creationId xmlns:a16="http://schemas.microsoft.com/office/drawing/2014/main" id="{6AB688AA-3369-4904-9CCF-B0CA68FF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52600"/>
            <a:ext cx="457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14343"/>
                </a:solidFill>
                <a:latin typeface="Noto Sans SC"/>
                <a:ea typeface="Noto Sans SC"/>
                <a:cs typeface="Noto Sans SC"/>
              </a:defRPr>
            </a:pPr>
            <a:r>
              <a:t>新增或保留的成本</a:t>
            </a:r>
          </a:p>
        </p:txBody>
      </p:sp>
      <p:sp>
        <p:nvSpPr>
          <p:cNvPr id="15" name="dot">
            <a:extLst xmlns:a="http://schemas.openxmlformats.org/drawingml/2006/main">
              <a:ext uri="{FF2B5EF4-FFF2-40B4-BE49-F238E27FC236}">
                <a16:creationId xmlns:a16="http://schemas.microsoft.com/office/drawing/2014/main" id="{2543224C-0C14-4F40-BDAE-2F806357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698-246">
            <a:extLst xmlns:a="http://schemas.openxmlformats.org/drawingml/2006/main">
              <a:ext uri="{FF2B5EF4-FFF2-40B4-BE49-F238E27FC236}">
                <a16:creationId xmlns:a16="http://schemas.microsoft.com/office/drawing/2014/main" id="{E1956518-6D9A-409B-87A7-5765BB60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438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每层 paged suffix → contiguous K/V gather</a:t>
            </a:r>
          </a:p>
        </p:txBody>
      </p:sp>
      <p:sp>
        <p:nvSpPr>
          <p:cNvPr id="17" name="dot">
            <a:extLst xmlns:a="http://schemas.openxmlformats.org/drawingml/2006/main">
              <a:ext uri="{FF2B5EF4-FFF2-40B4-BE49-F238E27FC236}">
                <a16:creationId xmlns:a16="http://schemas.microsoft.com/office/drawing/2014/main" id="{95B331F3-24E1-46CA-8029-679DCC98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698-314">
            <a:extLst xmlns:a="http://schemas.openxmlformats.org/drawingml/2006/main">
              <a:ext uri="{FF2B5EF4-FFF2-40B4-BE49-F238E27FC236}">
                <a16:creationId xmlns:a16="http://schemas.microsoft.com/office/drawing/2014/main" id="{513766D5-D631-4FBB-9D3C-433E9263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90850"/>
            <a:ext cx="438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Prefix FA + Suffix FA + LSE merge</a:t>
            </a:r>
          </a:p>
        </p:txBody>
      </p:sp>
      <p:sp>
        <p:nvSpPr>
          <p:cNvPr id="19" name="dot">
            <a:extLst xmlns:a="http://schemas.openxmlformats.org/drawingml/2006/main">
              <a:ext uri="{FF2B5EF4-FFF2-40B4-BE49-F238E27FC236}">
                <a16:creationId xmlns:a16="http://schemas.microsoft.com/office/drawing/2014/main" id="{A11AAA0E-4446-4B7E-BBF0-787C4249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698-382">
            <a:extLst xmlns:a="http://schemas.openxmlformats.org/drawingml/2006/main">
              <a:ext uri="{FF2B5EF4-FFF2-40B4-BE49-F238E27FC236}">
                <a16:creationId xmlns:a16="http://schemas.microsoft.com/office/drawing/2014/main" id="{493EF123-121D-4457-8349-57186D6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38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每 step 返回 W×K 候选；当前 K = W</a:t>
            </a:r>
          </a:p>
        </p:txBody>
      </p:sp>
      <p:sp>
        <p:nvSpPr>
          <p:cNvPr id="21" name="dot">
            <a:extLst xmlns:a="http://schemas.openxmlformats.org/drawingml/2006/main">
              <a:ext uri="{FF2B5EF4-FFF2-40B4-BE49-F238E27FC236}">
                <a16:creationId xmlns:a16="http://schemas.microsoft.com/office/drawing/2014/main" id="{3830B4BA-4262-4248-A280-5E5D5F4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698-450">
            <a:extLst xmlns:a="http://schemas.openxmlformats.org/drawingml/2006/main">
              <a:ext uri="{FF2B5EF4-FFF2-40B4-BE49-F238E27FC236}">
                <a16:creationId xmlns:a16="http://schemas.microsoft.com/office/drawing/2014/main" id="{BE64AC10-CADE-4AA7-AA4F-F2BB13A6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86250"/>
            <a:ext cx="4381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Host NumPy Top-W 形成逐 token 同步屏障</a:t>
            </a:r>
          </a:p>
        </p:txBody>
      </p:sp>
      <p:sp>
        <p:nvSpPr>
          <p:cNvPr id="23" name="perf-bottom">
            <a:extLst xmlns:a="http://schemas.openxmlformats.org/drawingml/2006/main">
              <a:ext uri="{FF2B5EF4-FFF2-40B4-BE49-F238E27FC236}">
                <a16:creationId xmlns:a16="http://schemas.microsoft.com/office/drawing/2014/main" id="{3FE5395A-39A3-4E1E-BC38-F2D055D3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erf-bottom-text">
            <a:extLst xmlns:a="http://schemas.openxmlformats.org/drawingml/2006/main">
              <a:ext uri="{FF2B5EF4-FFF2-40B4-BE49-F238E27FC236}">
                <a16:creationId xmlns:a16="http://schemas.microsoft.com/office/drawing/2014/main" id="{8C52367B-595C-4578-ADF9-BC4737DF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744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Beam width = 128 时，每个实例每步最多整理 16,384 个候选；真实瓶颈需用 Nsight / torch profiler 分层验证。</a:t>
            </a:r>
          </a:p>
        </p:txBody>
      </p:sp>
      <p:sp>
        <p:nvSpPr>
          <p:cNvPr id="25" name="slide-17-source">
            <a:extLst xmlns:a="http://schemas.openxmlformats.org/drawingml/2006/main">
              <a:ext uri="{FF2B5EF4-FFF2-40B4-BE49-F238E27FC236}">
                <a16:creationId xmlns:a16="http://schemas.microsoft.com/office/drawing/2014/main" id="{0120329E-33AD-40A2-9D2F-2CF948C3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静态代码推断；热点占比与加速比均需 GPU profile 验证</a:t>
            </a:r>
          </a:p>
        </p:txBody>
      </p:sp>
      <p:sp>
        <p:nvSpPr>
          <p:cNvPr id="26" name="slide-17-number">
            <a:extLst xmlns:a="http://schemas.openxmlformats.org/drawingml/2006/main">
              <a:ext uri="{FF2B5EF4-FFF2-40B4-BE49-F238E27FC236}">
                <a16:creationId xmlns:a16="http://schemas.microsoft.com/office/drawing/2014/main" id="{56CA9E2F-4E16-4B20-A5B1-00D821A6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17</a:t>
            </a:r>
          </a:p>
        </p:txBody>
      </p:sp>
    </p:spTree>
    <p:extLst>
      <p:ext uri="{BB962C8B-B14F-4D97-AF65-F5344CB8AC3E}">
        <p14:creationId xmlns:p14="http://schemas.microsoft.com/office/powerpoint/2010/main" val="6363549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B066A2B9-539F-4436-A966-42D63A45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下一步：把 Beam KV 变成可 Fork 的状态</a:t>
            </a:r>
          </a:p>
        </p:txBody>
      </p:sp>
      <p:cxnSp>
        <p:nvCxnSpPr>
          <p:cNvPr id="27" name="slide-18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8" name="future-arrow-1"/>
          <p:cNvCxnSpPr/>
          <p:nvPr/>
        </p:nvCxnSpPr>
        <p:spPr>
          <a:xfrm xmlns:a="http://schemas.openxmlformats.org/drawingml/2006/main">
            <a:off x="2876550" y="2838450"/>
            <a:ext cx="6477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29" name="future-arrow-2"/>
          <p:cNvCxnSpPr/>
          <p:nvPr/>
        </p:nvCxnSpPr>
        <p:spPr>
          <a:xfrm xmlns:a="http://schemas.openxmlformats.org/drawingml/2006/main">
            <a:off x="5715000" y="2838450"/>
            <a:ext cx="6477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0" name="future-arrow-3"/>
          <p:cNvCxnSpPr/>
          <p:nvPr/>
        </p:nvCxnSpPr>
        <p:spPr>
          <a:xfrm xmlns:a="http://schemas.openxmlformats.org/drawingml/2006/main">
            <a:off x="8553450" y="2838450"/>
            <a:ext cx="6477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6" name="future-parent-bg">
            <a:extLst xmlns:a="http://schemas.openxmlformats.org/drawingml/2006/main">
              <a:ext uri="{FF2B5EF4-FFF2-40B4-BE49-F238E27FC236}">
                <a16:creationId xmlns:a16="http://schemas.microsoft.com/office/drawing/2014/main" id="{734CD93E-2ADB-4266-9546-3BCE1462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362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uture-block-bg">
            <a:extLst xmlns:a="http://schemas.openxmlformats.org/drawingml/2006/main">
              <a:ext uri="{FF2B5EF4-FFF2-40B4-BE49-F238E27FC236}">
                <a16:creationId xmlns:a16="http://schemas.microsoft.com/office/drawing/2014/main" id="{BF9A7B98-A67D-4A32-A06F-8B54B2F6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190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uture-cow-bg">
            <a:extLst xmlns:a="http://schemas.openxmlformats.org/drawingml/2006/main">
              <a:ext uri="{FF2B5EF4-FFF2-40B4-BE49-F238E27FC236}">
                <a16:creationId xmlns:a16="http://schemas.microsoft.com/office/drawing/2014/main" id="{3D7F4F4D-E224-4955-89DC-237F01D7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190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uture-step-bg">
            <a:extLst xmlns:a="http://schemas.openxmlformats.org/drawingml/2006/main">
              <a:ext uri="{FF2B5EF4-FFF2-40B4-BE49-F238E27FC236}">
                <a16:creationId xmlns:a16="http://schemas.microsoft.com/office/drawing/2014/main" id="{EC8B7D7F-53BB-451E-817B-B9FB6610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24574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uture-parent-title">
            <a:extLst xmlns:a="http://schemas.openxmlformats.org/drawingml/2006/main">
              <a:ext uri="{FF2B5EF4-FFF2-40B4-BE49-F238E27FC236}">
                <a16:creationId xmlns:a16="http://schemas.microsoft.com/office/drawing/2014/main" id="{6C9BA077-FB18-4924-9ED7-8C909143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① Parent 映射</a:t>
            </a:r>
          </a:p>
        </p:txBody>
      </p:sp>
      <p:sp>
        <p:nvSpPr>
          <p:cNvPr id="11" name="future-parent-body">
            <a:extLst xmlns:a="http://schemas.openxmlformats.org/drawingml/2006/main">
              <a:ext uri="{FF2B5EF4-FFF2-40B4-BE49-F238E27FC236}">
                <a16:creationId xmlns:a16="http://schemas.microsoft.com/office/drawing/2014/main" id="{BEBD9BD2-6127-4369-BF4D-3BEDAB3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905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B′₀ ← B₀
B′₁ ← B₀
B′₂ ← B₂</a:t>
            </a:r>
          </a:p>
        </p:txBody>
      </p:sp>
      <p:sp>
        <p:nvSpPr>
          <p:cNvPr id="12" name="future-block-title">
            <a:extLst xmlns:a="http://schemas.openxmlformats.org/drawingml/2006/main">
              <a:ext uri="{FF2B5EF4-FFF2-40B4-BE49-F238E27FC236}">
                <a16:creationId xmlns:a16="http://schemas.microsoft.com/office/drawing/2014/main" id="{E5222CBA-3160-4B12-BA4E-EB469D83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1733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② 引用计数</a:t>
            </a:r>
          </a:p>
        </p:txBody>
      </p:sp>
      <p:sp>
        <p:nvSpPr>
          <p:cNvPr id="13" name="future-block-body">
            <a:extLst xmlns:a="http://schemas.openxmlformats.org/drawingml/2006/main">
              <a:ext uri="{FF2B5EF4-FFF2-40B4-BE49-F238E27FC236}">
                <a16:creationId xmlns:a16="http://schemas.microsoft.com/office/drawing/2014/main" id="{7D721185-472D-43EA-8DFA-C05F538A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1733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共享完整 KV block
prune 时递减 refcount</a:t>
            </a:r>
          </a:p>
        </p:txBody>
      </p:sp>
      <p:sp>
        <p:nvSpPr>
          <p:cNvPr id="14" name="future-cow-title">
            <a:extLst xmlns:a="http://schemas.openxmlformats.org/drawingml/2006/main">
              <a:ext uri="{FF2B5EF4-FFF2-40B4-BE49-F238E27FC236}">
                <a16:creationId xmlns:a16="http://schemas.microsoft.com/office/drawing/2014/main" id="{7E42F604-1896-4567-BAA7-1277196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1733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③ Partial Block COW</a:t>
            </a:r>
          </a:p>
        </p:txBody>
      </p:sp>
      <p:sp>
        <p:nvSpPr>
          <p:cNvPr id="15" name="future-cow-body">
            <a:extLst xmlns:a="http://schemas.openxmlformats.org/drawingml/2006/main">
              <a:ext uri="{FF2B5EF4-FFF2-40B4-BE49-F238E27FC236}">
                <a16:creationId xmlns:a16="http://schemas.microsoft.com/office/drawing/2014/main" id="{A4E994EB-AA67-4239-9E66-85BFB5FB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57500"/>
            <a:ext cx="1733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写入新 token 前
只复制尾部可写 block</a:t>
            </a:r>
          </a:p>
        </p:txBody>
      </p:sp>
      <p:sp>
        <p:nvSpPr>
          <p:cNvPr id="16" name="future-step-title">
            <a:extLst xmlns:a="http://schemas.openxmlformats.org/drawingml/2006/main">
              <a:ext uri="{FF2B5EF4-FFF2-40B4-BE49-F238E27FC236}">
                <a16:creationId xmlns:a16="http://schemas.microsoft.com/office/drawing/2014/main" id="{405BEFD5-7B8A-40C2-9960-B95F52B1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3835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855A"/>
                </a:solidFill>
                <a:latin typeface="Noto Sans SC"/>
                <a:ea typeface="Noto Sans SC"/>
                <a:cs typeface="Noto Sans SC"/>
              </a:defRPr>
            </a:pPr>
            <a:r>
              <a:t>④ 增量 Decode</a:t>
            </a:r>
          </a:p>
        </p:txBody>
      </p:sp>
      <p:sp>
        <p:nvSpPr>
          <p:cNvPr id="17" name="future-step-body">
            <a:extLst xmlns:a="http://schemas.openxmlformats.org/drawingml/2006/main">
              <a:ext uri="{FF2B5EF4-FFF2-40B4-BE49-F238E27FC236}">
                <a16:creationId xmlns:a16="http://schemas.microsoft.com/office/drawing/2014/main" id="{4536CCB5-2732-4761-BCE6-38A5816B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200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Scheduler 每 beam
只调度 1 个新增 token</a:t>
            </a:r>
          </a:p>
        </p:txBody>
      </p:sp>
      <p:sp>
        <p:nvSpPr>
          <p:cNvPr id="18" name="future-contract-bg">
            <a:extLst xmlns:a="http://schemas.openxmlformats.org/drawingml/2006/main">
              <a:ext uri="{FF2B5EF4-FFF2-40B4-BE49-F238E27FC236}">
                <a16:creationId xmlns:a16="http://schemas.microsoft.com/office/drawing/2014/main" id="{D0C0F93A-25B0-40B0-8EA9-015096C2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11144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uture-contract-title">
            <a:extLst xmlns:a="http://schemas.openxmlformats.org/drawingml/2006/main">
              <a:ext uri="{FF2B5EF4-FFF2-40B4-BE49-F238E27FC236}">
                <a16:creationId xmlns:a16="http://schemas.microsoft.com/office/drawing/2014/main" id="{EDEA7271-14FD-4182-A1B9-93F41F8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必须共同定义的系统契约</a:t>
            </a:r>
          </a:p>
        </p:txBody>
      </p:sp>
      <p:sp>
        <p:nvSpPr>
          <p:cNvPr id="20" name="future-contract-1">
            <a:extLst xmlns:a="http://schemas.openxmlformats.org/drawingml/2006/main">
              <a:ext uri="{FF2B5EF4-FFF2-40B4-BE49-F238E27FC236}">
                <a16:creationId xmlns:a16="http://schemas.microsoft.com/office/drawing/2014/main" id="{29A76F94-4400-4F5D-8E19-3A92AA1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逻辑 beam_id 与 request_id 解耦</a:t>
            </a:r>
          </a:p>
        </p:txBody>
      </p:sp>
      <p:sp>
        <p:nvSpPr>
          <p:cNvPr id="21" name="future-contract-2">
            <a:extLst xmlns:a="http://schemas.openxmlformats.org/drawingml/2006/main">
              <a:ext uri="{FF2B5EF4-FFF2-40B4-BE49-F238E27FC236}">
                <a16:creationId xmlns:a16="http://schemas.microsoft.com/office/drawing/2014/main" id="{884C7F2F-9138-4823-A2B7-A6F541E4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block table fork / prune / reorder 原子性</a:t>
            </a:r>
          </a:p>
        </p:txBody>
      </p:sp>
      <p:sp>
        <p:nvSpPr>
          <p:cNvPr id="22" name="future-contract-3">
            <a:extLst xmlns:a="http://schemas.openxmlformats.org/drawingml/2006/main">
              <a:ext uri="{FF2B5EF4-FFF2-40B4-BE49-F238E27FC236}">
                <a16:creationId xmlns:a16="http://schemas.microsoft.com/office/drawing/2014/main" id="{1E90E223-063F-49A8-85C8-C45E066A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530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chunk / preemption / prefix cache 一致性</a:t>
            </a:r>
          </a:p>
        </p:txBody>
      </p:sp>
      <p:sp>
        <p:nvSpPr>
          <p:cNvPr id="23" name="future-contract-bottom">
            <a:extLst xmlns:a="http://schemas.openxmlformats.org/drawingml/2006/main">
              <a:ext uri="{FF2B5EF4-FFF2-40B4-BE49-F238E27FC236}">
                <a16:creationId xmlns:a16="http://schemas.microsoft.com/office/drawing/2014/main" id="{0AA4B5A5-B2CF-42AC-8FE6-4E6D075F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68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正确性验收：parent→child KV 等价于独立 request baseline；性能验收：累计 suffix 计算量由 O(WT²) 降为 O(WT)。</a:t>
            </a:r>
          </a:p>
        </p:txBody>
      </p:sp>
      <p:sp>
        <p:nvSpPr>
          <p:cNvPr id="24" name="slide-18-source">
            <a:extLst xmlns:a="http://schemas.openxmlformats.org/drawingml/2006/main">
              <a:ext uri="{FF2B5EF4-FFF2-40B4-BE49-F238E27FC236}">
                <a16:creationId xmlns:a16="http://schemas.microsoft.com/office/drawing/2014/main" id="{15B949AD-70D8-483B-87EA-CD4CB475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演进建议：先建立 BeamKVState / BlockTable fork 契约，再评估 Attention 融合与 GPU Top-W</a:t>
            </a:r>
          </a:p>
        </p:txBody>
      </p:sp>
      <p:sp>
        <p:nvSpPr>
          <p:cNvPr id="25" name="slide-18-number">
            <a:extLst xmlns:a="http://schemas.openxmlformats.org/drawingml/2006/main">
              <a:ext uri="{FF2B5EF4-FFF2-40B4-BE49-F238E27FC236}">
                <a16:creationId xmlns:a16="http://schemas.microsoft.com/office/drawing/2014/main" id="{F8591275-5AA5-4267-97FB-B264B04E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18</a:t>
            </a:r>
          </a:p>
        </p:txBody>
      </p:sp>
    </p:spTree>
    <p:extLst>
      <p:ext uri="{BB962C8B-B14F-4D97-AF65-F5344CB8AC3E}">
        <p14:creationId xmlns:p14="http://schemas.microsoft.com/office/powerpoint/2010/main" val="20868287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A86920AB-CD49-4A61-BE94-00F3B612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核心调用链代码地图：从在线入口落到 GPU Kernel</a:t>
            </a:r>
          </a:p>
        </p:txBody>
      </p:sp>
      <p:cxnSp>
        <p:nvCxnSpPr>
          <p:cNvPr id="36" name="slide-19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code-map-header">
            <a:extLst xmlns:a="http://schemas.openxmlformats.org/drawingml/2006/main">
              <a:ext uri="{FF2B5EF4-FFF2-40B4-BE49-F238E27FC236}">
                <a16:creationId xmlns:a16="http://schemas.microsoft.com/office/drawing/2014/main" id="{3334A847-F16D-4653-B6D7-60A9A350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map-h1">
            <a:extLst xmlns:a="http://schemas.openxmlformats.org/drawingml/2006/main">
              <a:ext uri="{FF2B5EF4-FFF2-40B4-BE49-F238E27FC236}">
                <a16:creationId xmlns:a16="http://schemas.microsoft.com/office/drawing/2014/main" id="{9B476B8A-0820-4533-9C23-9B76C65E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链路阶段</a:t>
            </a:r>
          </a:p>
        </p:txBody>
      </p:sp>
      <p:sp>
        <p:nvSpPr>
          <p:cNvPr id="5" name="code-map-h2">
            <a:extLst xmlns:a="http://schemas.openxmlformats.org/drawingml/2006/main">
              <a:ext uri="{FF2B5EF4-FFF2-40B4-BE49-F238E27FC236}">
                <a16:creationId xmlns:a16="http://schemas.microsoft.com/office/drawing/2014/main" id="{33D9F935-E0A8-495E-AA33-EB34933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核心入口 / 状态转换</a:t>
            </a:r>
          </a:p>
        </p:txBody>
      </p:sp>
      <p:sp>
        <p:nvSpPr>
          <p:cNvPr id="6" name="code-map-h3">
            <a:extLst xmlns:a="http://schemas.openxmlformats.org/drawingml/2006/main">
              <a:ext uri="{FF2B5EF4-FFF2-40B4-BE49-F238E27FC236}">
                <a16:creationId xmlns:a16="http://schemas.microsoft.com/office/drawing/2014/main" id="{0D136C1E-ECE6-4243-A793-93237248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621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实现文件与行号</a:t>
            </a:r>
          </a:p>
        </p:txBody>
      </p:sp>
      <p:sp>
        <p:nvSpPr>
          <p:cNvPr id="7" name="code-map-row1">
            <a:extLst xmlns:a="http://schemas.openxmlformats.org/drawingml/2006/main">
              <a:ext uri="{FF2B5EF4-FFF2-40B4-BE49-F238E27FC236}">
                <a16:creationId xmlns:a16="http://schemas.microsoft.com/office/drawing/2014/main" id="{39E125DA-B8C9-4DA7-9C77-DBBEAC1D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-map-r1-stage">
            <a:extLst xmlns:a="http://schemas.openxmlformats.org/drawingml/2006/main">
              <a:ext uri="{FF2B5EF4-FFF2-40B4-BE49-F238E27FC236}">
                <a16:creationId xmlns:a16="http://schemas.microsoft.com/office/drawing/2014/main" id="{C7EAF0AB-601B-4678-A077-62A6B3F4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① 请求解析</a:t>
            </a:r>
          </a:p>
        </p:txBody>
      </p:sp>
      <p:sp>
        <p:nvSpPr>
          <p:cNvPr id="9" name="code-map-r1-fn">
            <a:extLst xmlns:a="http://schemas.openxmlformats.org/drawingml/2006/main">
              <a:ext uri="{FF2B5EF4-FFF2-40B4-BE49-F238E27FC236}">
                <a16:creationId xmlns:a16="http://schemas.microsoft.com/office/drawing/2014/main" id="{6E163329-27F7-44BD-AA55-297D7886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to_beam_search_params → beam_search</a:t>
            </a:r>
          </a:p>
        </p:txBody>
      </p:sp>
      <p:sp>
        <p:nvSpPr>
          <p:cNvPr id="10" name="code-map-r1-file">
            <a:extLst xmlns:a="http://schemas.openxmlformats.org/drawingml/2006/main">
              <a:ext uri="{FF2B5EF4-FFF2-40B4-BE49-F238E27FC236}">
                <a16:creationId xmlns:a16="http://schemas.microsoft.com/office/drawing/2014/main" id="{F9F96682-987C-4BC5-8D06-AFD2E42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400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openai/protocol.py:10–28
openai/serving_engine.py:218–682</a:t>
            </a:r>
          </a:p>
        </p:txBody>
      </p:sp>
      <p:sp>
        <p:nvSpPr>
          <p:cNvPr id="11" name="code-map-row2">
            <a:extLst xmlns:a="http://schemas.openxmlformats.org/drawingml/2006/main">
              <a:ext uri="{FF2B5EF4-FFF2-40B4-BE49-F238E27FC236}">
                <a16:creationId xmlns:a16="http://schemas.microsoft.com/office/drawing/2014/main" id="{ABA0A55E-84B0-4CDF-9E43-8F01EF0F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ode-map-r2-stage">
            <a:extLst xmlns:a="http://schemas.openxmlformats.org/drawingml/2006/main">
              <a:ext uri="{FF2B5EF4-FFF2-40B4-BE49-F238E27FC236}">
                <a16:creationId xmlns:a16="http://schemas.microsoft.com/office/drawing/2014/main" id="{23F92C59-4ACC-4355-A1FF-A654EDC9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② Catalog + Top-W</a:t>
            </a:r>
          </a:p>
        </p:txBody>
      </p:sp>
      <p:sp>
        <p:nvSpPr>
          <p:cNvPr id="13" name="code-map-r2-fn">
            <a:extLst xmlns:a="http://schemas.openxmlformats.org/drawingml/2006/main">
              <a:ext uri="{FF2B5EF4-FFF2-40B4-BE49-F238E27FC236}">
                <a16:creationId xmlns:a16="http://schemas.microsoft.com/office/drawing/2014/main" id="{770A1CF7-6F72-45D5-AB28-703A31AF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194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Catalog.valid → mask −∞ → EOS → global Top-W</a:t>
            </a:r>
          </a:p>
        </p:txBody>
      </p:sp>
      <p:sp>
        <p:nvSpPr>
          <p:cNvPr id="14" name="code-map-r2-file">
            <a:extLst xmlns:a="http://schemas.openxmlformats.org/drawingml/2006/main">
              <a:ext uri="{FF2B5EF4-FFF2-40B4-BE49-F238E27FC236}">
                <a16:creationId xmlns:a16="http://schemas.microsoft.com/office/drawing/2014/main" id="{9C7998AD-96A4-42DE-8B11-BCD0C297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400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serving_models.py:18–49
serving_engine.py:372–611</a:t>
            </a:r>
          </a:p>
        </p:txBody>
      </p:sp>
      <p:sp>
        <p:nvSpPr>
          <p:cNvPr id="15" name="code-map-row3">
            <a:extLst xmlns:a="http://schemas.openxmlformats.org/drawingml/2006/main">
              <a:ext uri="{FF2B5EF4-FFF2-40B4-BE49-F238E27FC236}">
                <a16:creationId xmlns:a16="http://schemas.microsoft.com/office/drawing/2014/main" id="{AB535FD4-5C24-4474-A4D0-51D6BA92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de-map-r3-stage">
            <a:extLst xmlns:a="http://schemas.openxmlformats.org/drawingml/2006/main">
              <a:ext uri="{FF2B5EF4-FFF2-40B4-BE49-F238E27FC236}">
                <a16:creationId xmlns:a16="http://schemas.microsoft.com/office/drawing/2014/main" id="{A72915D5-1345-4431-875D-E7B98579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③ Grouped 状态</a:t>
            </a:r>
          </a:p>
        </p:txBody>
      </p:sp>
      <p:sp>
        <p:nvSpPr>
          <p:cNvPr id="17" name="code-map-r3-fn">
            <a:extLst xmlns:a="http://schemas.openxmlformats.org/drawingml/2006/main">
              <a:ext uri="{FF2B5EF4-FFF2-40B4-BE49-F238E27FC236}">
                <a16:creationId xmlns:a16="http://schemas.microsoft.com/office/drawing/2014/main" id="{A17323D2-455D-480A-A35F-6A6A5947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480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_cache_beam_request → _handle_beam_request_step_update</a:t>
            </a:r>
          </a:p>
        </p:txBody>
      </p:sp>
      <p:sp>
        <p:nvSpPr>
          <p:cNvPr id="18" name="code-map-r3-file">
            <a:extLst xmlns:a="http://schemas.openxmlformats.org/drawingml/2006/main">
              <a:ext uri="{FF2B5EF4-FFF2-40B4-BE49-F238E27FC236}">
                <a16:creationId xmlns:a16="http://schemas.microsoft.com/office/drawing/2014/main" id="{41D20033-9A83-4512-B38F-1214CDB6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v1/engine/core.py:48–203</a:t>
            </a:r>
          </a:p>
        </p:txBody>
      </p:sp>
      <p:sp>
        <p:nvSpPr>
          <p:cNvPr id="19" name="code-map-row4">
            <a:extLst xmlns:a="http://schemas.openxmlformats.org/drawingml/2006/main">
              <a:ext uri="{FF2B5EF4-FFF2-40B4-BE49-F238E27FC236}">
                <a16:creationId xmlns:a16="http://schemas.microsoft.com/office/drawing/2014/main" id="{B5EAF01A-659F-4378-A3D9-7E11E1BD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code-map-r4-stage">
            <a:extLst xmlns:a="http://schemas.openxmlformats.org/drawingml/2006/main">
              <a:ext uri="{FF2B5EF4-FFF2-40B4-BE49-F238E27FC236}">
                <a16:creationId xmlns:a16="http://schemas.microsoft.com/office/drawing/2014/main" id="{8F3341F9-0F7F-4299-BDC4-BF9787EE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④ Scheduler / KV</a:t>
            </a:r>
          </a:p>
        </p:txBody>
      </p:sp>
      <p:sp>
        <p:nvSpPr>
          <p:cNvPr id="21" name="code-map-r4-fn">
            <a:extLst xmlns:a="http://schemas.openxmlformats.org/drawingml/2006/main">
              <a:ext uri="{FF2B5EF4-FFF2-40B4-BE49-F238E27FC236}">
                <a16:creationId xmlns:a16="http://schemas.microsoft.com/office/drawing/2014/main" id="{A63B6352-1DAE-4C18-A92F-A1DF9C1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patched_schedule → prefix-cache clamp → beam_data</a:t>
            </a:r>
          </a:p>
        </p:txBody>
      </p:sp>
      <p:sp>
        <p:nvSpPr>
          <p:cNvPr id="22" name="code-map-r4-file">
            <a:extLst xmlns:a="http://schemas.openxmlformats.org/drawingml/2006/main">
              <a:ext uri="{FF2B5EF4-FFF2-40B4-BE49-F238E27FC236}">
                <a16:creationId xmlns:a16="http://schemas.microsoft.com/office/drawing/2014/main" id="{A3B0748A-ED17-4DD3-879A-882EB233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400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engine_core_patch.py:273–350
upstream scheduler.py:329–803</a:t>
            </a:r>
          </a:p>
        </p:txBody>
      </p:sp>
      <p:sp>
        <p:nvSpPr>
          <p:cNvPr id="23" name="code-map-row5">
            <a:extLst xmlns:a="http://schemas.openxmlformats.org/drawingml/2006/main">
              <a:ext uri="{FF2B5EF4-FFF2-40B4-BE49-F238E27FC236}">
                <a16:creationId xmlns:a16="http://schemas.microsoft.com/office/drawing/2014/main" id="{06280789-81B7-4B3D-98EA-D8C419F7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de-map-r5-stage">
            <a:extLst xmlns:a="http://schemas.openxmlformats.org/drawingml/2006/main">
              <a:ext uri="{FF2B5EF4-FFF2-40B4-BE49-F238E27FC236}">
                <a16:creationId xmlns:a16="http://schemas.microsoft.com/office/drawing/2014/main" id="{F2185D87-9639-44D3-B2C8-185D69A7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⑤ Runner 展开 / 折叠</a:t>
            </a:r>
          </a:p>
        </p:txBody>
      </p:sp>
      <p:sp>
        <p:nvSpPr>
          <p:cNvPr id="25" name="code-map-r5-fn">
            <a:extLst xmlns:a="http://schemas.openxmlformats.org/drawingml/2006/main">
              <a:ext uri="{FF2B5EF4-FFF2-40B4-BE49-F238E27FC236}">
                <a16:creationId xmlns:a16="http://schemas.microsoft.com/office/drawing/2014/main" id="{712A4F20-14B7-462B-B322-5336171B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053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_beam_remap_inputs → model → _beam_collapse_bookkeeping</a:t>
            </a:r>
          </a:p>
        </p:txBody>
      </p:sp>
      <p:sp>
        <p:nvSpPr>
          <p:cNvPr id="26" name="code-map-r5-file">
            <a:extLst xmlns:a="http://schemas.openxmlformats.org/drawingml/2006/main">
              <a:ext uri="{FF2B5EF4-FFF2-40B4-BE49-F238E27FC236}">
                <a16:creationId xmlns:a16="http://schemas.microsoft.com/office/drawing/2014/main" id="{20A4C0EE-4E4F-4585-84A1-46B569B4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29150"/>
            <a:ext cx="400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engine_core_patch.py:688–924
engine_core_patch.py:933–1032</a:t>
            </a:r>
          </a:p>
        </p:txBody>
      </p:sp>
      <p:sp>
        <p:nvSpPr>
          <p:cNvPr id="27" name="code-map-row6">
            <a:extLst xmlns:a="http://schemas.openxmlformats.org/drawingml/2006/main">
              <a:ext uri="{FF2B5EF4-FFF2-40B4-BE49-F238E27FC236}">
                <a16:creationId xmlns:a16="http://schemas.microsoft.com/office/drawing/2014/main" id="{3F43CFC8-B40F-4B93-998F-740E6C33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11163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code-map-r6-stage">
            <a:extLst xmlns:a="http://schemas.openxmlformats.org/drawingml/2006/main">
              <a:ext uri="{FF2B5EF4-FFF2-40B4-BE49-F238E27FC236}">
                <a16:creationId xmlns:a16="http://schemas.microsoft.com/office/drawing/2014/main" id="{4BA6757E-3E94-45F1-AB0D-F738FD3E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⑥ BeamAttention</a:t>
            </a:r>
          </a:p>
        </p:txBody>
      </p:sp>
      <p:sp>
        <p:nvSpPr>
          <p:cNvPr id="29" name="code-map-r6-fn">
            <a:extLst xmlns:a="http://schemas.openxmlformats.org/drawingml/2006/main">
              <a:ext uri="{FF2B5EF4-FFF2-40B4-BE49-F238E27FC236}">
                <a16:creationId xmlns:a16="http://schemas.microsoft.com/office/drawing/2014/main" id="{BBD3D51C-4F1D-48F4-85B0-ECBFE535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340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build → cascade_attention_gpu → extract_suffix_kv</a:t>
            </a:r>
          </a:p>
        </p:txBody>
      </p:sp>
      <p:sp>
        <p:nvSpPr>
          <p:cNvPr id="30" name="code-map-r6-file">
            <a:extLst xmlns:a="http://schemas.openxmlformats.org/drawingml/2006/main">
              <a:ext uri="{FF2B5EF4-FFF2-40B4-BE49-F238E27FC236}">
                <a16:creationId xmlns:a16="http://schemas.microsoft.com/office/drawing/2014/main" id="{71BF3610-944E-44DB-BCE0-5B69160D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57800"/>
            <a:ext cx="400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t>beam_attn.py:270–1196
beam_attn_triton.py:81–146</a:t>
            </a:r>
          </a:p>
        </p:txBody>
      </p:sp>
      <p:sp>
        <p:nvSpPr>
          <p:cNvPr id="31" name="code-map-tip-bg">
            <a:extLst xmlns:a="http://schemas.openxmlformats.org/drawingml/2006/main">
              <a:ext uri="{FF2B5EF4-FFF2-40B4-BE49-F238E27FC236}">
                <a16:creationId xmlns:a16="http://schemas.microsoft.com/office/drawing/2014/main" id="{5BADC282-5AD6-4B71-99F7-8B2BFD2C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de-map-tip">
            <a:extLst xmlns:a="http://schemas.openxmlformats.org/drawingml/2006/main">
              <a:ext uri="{FF2B5EF4-FFF2-40B4-BE49-F238E27FC236}">
                <a16:creationId xmlns:a16="http://schemas.microsoft.com/office/drawing/2014/main" id="{1D419CA7-D9EF-40C3-8AEB-EB310A12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744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现场阅读顺序：先从 serving_engine.py 看控制闭环，再沿 beam_data 下钻 Runner 与 BeamAttention。</a:t>
            </a:r>
          </a:p>
        </p:txBody>
      </p:sp>
      <p:sp>
        <p:nvSpPr>
          <p:cNvPr id="33" name="slide-19-source">
            <a:extLst xmlns:a="http://schemas.openxmlformats.org/drawingml/2006/main">
              <a:ext uri="{FF2B5EF4-FFF2-40B4-BE49-F238E27FC236}">
                <a16:creationId xmlns:a16="http://schemas.microsoft.com/office/drawing/2014/main" id="{BF00AC5A-6250-4C3C-8488-8CFE9FFD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代码快照校验：vLLM-GR 0.22.1 · 当前上传压缩包</a:t>
            </a:r>
          </a:p>
        </p:txBody>
      </p:sp>
      <p:sp>
        <p:nvSpPr>
          <p:cNvPr id="34" name="slide-19-number">
            <a:extLst xmlns:a="http://schemas.openxmlformats.org/drawingml/2006/main">
              <a:ext uri="{FF2B5EF4-FFF2-40B4-BE49-F238E27FC236}">
                <a16:creationId xmlns:a16="http://schemas.microsoft.com/office/drawing/2014/main" id="{47601CEF-7DB3-4DC6-827F-F08906B9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19</a:t>
            </a:r>
          </a:p>
        </p:txBody>
      </p:sp>
    </p:spTree>
    <p:extLst>
      <p:ext uri="{BB962C8B-B14F-4D97-AF65-F5344CB8AC3E}">
        <p14:creationId xmlns:p14="http://schemas.microsoft.com/office/powerpoint/2010/main" val="3502168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0-title">
            <a:extLst xmlns:a="http://schemas.openxmlformats.org/drawingml/2006/main">
              <a:ext uri="{FF2B5EF4-FFF2-40B4-BE49-F238E27FC236}">
                <a16:creationId xmlns:a16="http://schemas.microsoft.com/office/drawing/2014/main" id="{3B6B8727-4B27-4E67-A35E-B5026958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专家讨论：先锁定状态模型，再决定优化顺序</a:t>
            </a:r>
          </a:p>
        </p:txBody>
      </p:sp>
      <p:cxnSp>
        <p:nvCxnSpPr>
          <p:cNvPr id="25" name="slide-20-title-rule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q1n">
            <a:extLst xmlns:a="http://schemas.openxmlformats.org/drawingml/2006/main">
              <a:ext uri="{FF2B5EF4-FFF2-40B4-BE49-F238E27FC236}">
                <a16:creationId xmlns:a16="http://schemas.microsoft.com/office/drawing/2014/main" id="{2D995C59-B0E1-4837-BF5C-783D2F45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01</a:t>
            </a:r>
          </a:p>
        </p:txBody>
      </p:sp>
      <p:sp>
        <p:nvSpPr>
          <p:cNvPr id="4" name="q1">
            <a:extLst xmlns:a="http://schemas.openxmlformats.org/drawingml/2006/main">
              <a:ext uri="{FF2B5EF4-FFF2-40B4-BE49-F238E27FC236}">
                <a16:creationId xmlns:a16="http://schemas.microsoft.com/office/drawing/2014/main" id="{21AF67D3-C647-4EE9-A5CE-06F86864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6210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Catalog 在每 beam Top-K 之后过滤：稀疏约束下是否会漏掉合法但排名 &gt; K 的 token？</a:t>
            </a:r>
          </a:p>
        </p:txBody>
      </p:sp>
      <p:cxnSp>
        <p:nvCxnSpPr>
          <p:cNvPr id="28" name="q1rule"/>
          <p:cNvCxnSpPr/>
          <p:nvPr/>
        </p:nvCxnSpPr>
        <p:spPr>
          <a:xfrm xmlns:a="http://schemas.openxmlformats.org/drawingml/2006/main">
            <a:off x="552450" y="2343150"/>
            <a:ext cx="5124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q2n">
            <a:extLst xmlns:a="http://schemas.openxmlformats.org/drawingml/2006/main">
              <a:ext uri="{FF2B5EF4-FFF2-40B4-BE49-F238E27FC236}">
                <a16:creationId xmlns:a16="http://schemas.microsoft.com/office/drawing/2014/main" id="{5C02B9A0-202D-40D9-9386-285038D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02</a:t>
            </a:r>
          </a:p>
        </p:txBody>
      </p:sp>
      <p:sp>
        <p:nvSpPr>
          <p:cNvPr id="7" name="q2">
            <a:extLst xmlns:a="http://schemas.openxmlformats.org/drawingml/2006/main">
              <a:ext uri="{FF2B5EF4-FFF2-40B4-BE49-F238E27FC236}">
                <a16:creationId xmlns:a16="http://schemas.microsoft.com/office/drawing/2014/main" id="{CCC2C494-B576-4896-82DC-698AA1C6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BeamKVState 如何定义 fork / refcount / partial-block COW，才能兼容调度、抢占与 prefix cache？</a:t>
            </a:r>
          </a:p>
        </p:txBody>
      </p:sp>
      <p:cxnSp>
        <p:nvCxnSpPr>
          <p:cNvPr id="31" name="q2rule"/>
          <p:cNvCxnSpPr/>
          <p:nvPr/>
        </p:nvCxnSpPr>
        <p:spPr>
          <a:xfrm xmlns:a="http://schemas.openxmlformats.org/drawingml/2006/main">
            <a:off x="552450" y="3390900"/>
            <a:ext cx="5124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q3n">
            <a:extLst xmlns:a="http://schemas.openxmlformats.org/drawingml/2006/main">
              <a:ext uri="{FF2B5EF4-FFF2-40B4-BE49-F238E27FC236}">
                <a16:creationId xmlns:a16="http://schemas.microsoft.com/office/drawing/2014/main" id="{3F6517F3-CC80-4C45-8E1E-5FD0B7BE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03</a:t>
            </a:r>
          </a:p>
        </p:txBody>
      </p:sp>
      <p:sp>
        <p:nvSpPr>
          <p:cNvPr id="10" name="q3">
            <a:extLst xmlns:a="http://schemas.openxmlformats.org/drawingml/2006/main">
              <a:ext uri="{FF2B5EF4-FFF2-40B4-BE49-F238E27FC236}">
                <a16:creationId xmlns:a16="http://schemas.microsoft.com/office/drawing/2014/main" id="{D0E71A4F-A932-4332-9BC3-48FC187D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Suffix 重算在多长输出、多少 beam 后超过请求聚合收益？需要怎样的分层 Profile 与 break-even 模型？</a:t>
            </a:r>
          </a:p>
        </p:txBody>
      </p:sp>
      <p:sp>
        <p:nvSpPr>
          <p:cNvPr id="11" name="q4n">
            <a:extLst xmlns:a="http://schemas.openxmlformats.org/drawingml/2006/main">
              <a:ext uri="{FF2B5EF4-FFF2-40B4-BE49-F238E27FC236}">
                <a16:creationId xmlns:a16="http://schemas.microsoft.com/office/drawing/2014/main" id="{D3D5F121-ACED-49C0-ACCD-14B107D9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6210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04</a:t>
            </a:r>
          </a:p>
        </p:txBody>
      </p:sp>
      <p:sp>
        <p:nvSpPr>
          <p:cNvPr id="12" name="q4">
            <a:extLst xmlns:a="http://schemas.openxmlformats.org/drawingml/2006/main">
              <a:ext uri="{FF2B5EF4-FFF2-40B4-BE49-F238E27FC236}">
                <a16:creationId xmlns:a16="http://schemas.microsoft.com/office/drawing/2014/main" id="{B527AFF7-24D6-479C-B928-E30477CC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6210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优先级应是 Beam KV 增量化、Attention 融合，还是把全局 Top-W / Catalog mask 下沉 GPU？</a:t>
            </a:r>
          </a:p>
        </p:txBody>
      </p:sp>
      <p:cxnSp>
        <p:nvCxnSpPr>
          <p:cNvPr id="36" name="q4rule"/>
          <p:cNvCxnSpPr/>
          <p:nvPr/>
        </p:nvCxnSpPr>
        <p:spPr>
          <a:xfrm xmlns:a="http://schemas.openxmlformats.org/drawingml/2006/main">
            <a:off x="6267450" y="2343150"/>
            <a:ext cx="5124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q5n">
            <a:extLst xmlns:a="http://schemas.openxmlformats.org/drawingml/2006/main">
              <a:ext uri="{FF2B5EF4-FFF2-40B4-BE49-F238E27FC236}">
                <a16:creationId xmlns:a16="http://schemas.microsoft.com/office/drawing/2014/main" id="{43A78432-65A1-4526-BAFD-3ACDF17B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05</a:t>
            </a:r>
          </a:p>
        </p:txBody>
      </p:sp>
      <p:sp>
        <p:nvSpPr>
          <p:cNvPr id="15" name="q5">
            <a:extLst xmlns:a="http://schemas.openxmlformats.org/drawingml/2006/main">
              <a:ext uri="{FF2B5EF4-FFF2-40B4-BE49-F238E27FC236}">
                <a16:creationId xmlns:a16="http://schemas.microsoft.com/office/drawing/2014/main" id="{25234287-AF32-4757-805D-D071F17C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9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Chunked scheduling / preemption 下，_beam_logprobs_cache 与 physical beam slot 的一致性如何压测？</a:t>
            </a:r>
          </a:p>
        </p:txBody>
      </p:sp>
      <p:cxnSp>
        <p:nvCxnSpPr>
          <p:cNvPr id="39" name="q5rule"/>
          <p:cNvCxnSpPr/>
          <p:nvPr/>
        </p:nvCxnSpPr>
        <p:spPr>
          <a:xfrm xmlns:a="http://schemas.openxmlformats.org/drawingml/2006/main">
            <a:off x="6267450" y="3390900"/>
            <a:ext cx="5124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q6n">
            <a:extLst xmlns:a="http://schemas.openxmlformats.org/drawingml/2006/main">
              <a:ext uri="{FF2B5EF4-FFF2-40B4-BE49-F238E27FC236}">
                <a16:creationId xmlns:a16="http://schemas.microsoft.com/office/drawing/2014/main" id="{CD9FD9C9-FB0B-4F09-9D1C-E1795EFA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06</a:t>
            </a:r>
          </a:p>
        </p:txBody>
      </p:sp>
      <p:sp>
        <p:nvSpPr>
          <p:cNvPr id="18" name="q6">
            <a:extLst xmlns:a="http://schemas.openxmlformats.org/drawingml/2006/main">
              <a:ext uri="{FF2B5EF4-FFF2-40B4-BE49-F238E27FC236}">
                <a16:creationId xmlns:a16="http://schemas.microsoft.com/office/drawing/2014/main" id="{1FB5B491-6E4D-4359-9054-2C2BAAC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5760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大量 private API / InputBatchProxy 是否影响 CUDA Graph、版本升级，以及 Beam 与普通请求的隔离？</a:t>
            </a:r>
          </a:p>
        </p:txBody>
      </p:sp>
      <p:sp>
        <p:nvSpPr>
          <p:cNvPr id="19" name="discussion-bottom">
            <a:extLst xmlns:a="http://schemas.openxmlformats.org/drawingml/2006/main">
              <a:ext uri="{FF2B5EF4-FFF2-40B4-BE49-F238E27FC236}">
                <a16:creationId xmlns:a16="http://schemas.microsoft.com/office/drawing/2014/main" id="{C7DE0D3D-1C9D-4EE6-9EAB-A1215194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0839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0" name="discussion-bottom-title">
            <a:extLst xmlns:a="http://schemas.openxmlformats.org/drawingml/2006/main">
              <a:ext uri="{FF2B5EF4-FFF2-40B4-BE49-F238E27FC236}">
                <a16:creationId xmlns:a16="http://schemas.microsoft.com/office/drawing/2014/main" id="{B8671C9E-E3C6-4048-B0B1-6BA00097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推荐现场结论模板</a:t>
            </a:r>
          </a:p>
        </p:txBody>
      </p:sp>
      <p:sp>
        <p:nvSpPr>
          <p:cNvPr id="21" name="discussion-bottom-text">
            <a:extLst xmlns:a="http://schemas.openxmlformats.org/drawingml/2006/main">
              <a:ext uri="{FF2B5EF4-FFF2-40B4-BE49-F238E27FC236}">
                <a16:creationId xmlns:a16="http://schemas.microsoft.com/office/drawing/2014/main" id="{52EE520E-D473-4DB3-8D26-56FA1BC5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382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先定正确性：Attention 隔离、Catalog exactness、parent→child KV 等价性
再定收益：Suffix 重算、kernel/HBM、D2H 与 Host barrier 各占多少，谁先优化。</a:t>
            </a:r>
          </a:p>
        </p:txBody>
      </p:sp>
      <p:sp>
        <p:nvSpPr>
          <p:cNvPr id="22" name="slide-20-source">
            <a:extLst xmlns:a="http://schemas.openxmlformats.org/drawingml/2006/main">
              <a:ext uri="{FF2B5EF4-FFF2-40B4-BE49-F238E27FC236}">
                <a16:creationId xmlns:a16="http://schemas.microsoft.com/office/drawing/2014/main" id="{444FBADD-19CD-4112-877C-ED8F90B8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Noto Sans SC"/>
                <a:ea typeface="Noto Sans SC"/>
                <a:cs typeface="Noto Sans SC"/>
              </a:defRPr>
            </a:pPr>
            <a:r>
              <a:t>讨论锚点：serving_engine.py:372–611 · engine_core_patch.py:818–907 · beam_attn.py:354–478</a:t>
            </a:r>
          </a:p>
        </p:txBody>
      </p:sp>
      <p:sp>
        <p:nvSpPr>
          <p:cNvPr id="23" name="slide-20-number">
            <a:extLst xmlns:a="http://schemas.openxmlformats.org/drawingml/2006/main">
              <a:ext uri="{FF2B5EF4-FFF2-40B4-BE49-F238E27FC236}">
                <a16:creationId xmlns:a16="http://schemas.microsoft.com/office/drawing/2014/main" id="{D7A701BE-9B1C-41E0-96F9-14AA141B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742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ptos Mono"/>
                <a:ea typeface="Aptos Mono"/>
                <a:cs typeface="Aptos Mono"/>
              </a:defRPr>
            </a:pPr>
            <a:r>
              <a:t> 20</a:t>
            </a:r>
          </a:p>
        </p:txBody>
      </p:sp>
    </p:spTree>
    <p:extLst>
      <p:ext uri="{BB962C8B-B14F-4D97-AF65-F5344CB8AC3E}">
        <p14:creationId xmlns:p14="http://schemas.microsoft.com/office/powerpoint/2010/main" val="1668145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2026-07-21T15:52:18.5040000Z</dcterms:created>
  <dcterms:modified xsi:type="dcterms:W3CDTF">2026-07-21T15:52:18.5040000Z</dcterms:modified>
</coreProperties>
</file>